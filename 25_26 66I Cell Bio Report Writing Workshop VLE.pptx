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7"/>
  </p:notesMasterIdLst>
  <p:sldIdLst>
    <p:sldId id="256" r:id="rId2"/>
    <p:sldId id="257" r:id="rId3"/>
    <p:sldId id="258" r:id="rId4"/>
    <p:sldId id="259" r:id="rId5"/>
    <p:sldId id="260" r:id="rId6"/>
    <p:sldId id="262" r:id="rId7"/>
    <p:sldId id="263" r:id="rId8"/>
    <p:sldId id="264" r:id="rId9"/>
    <p:sldId id="265" r:id="rId10"/>
    <p:sldId id="266" r:id="rId11"/>
    <p:sldId id="267" r:id="rId12"/>
    <p:sldId id="271" r:id="rId13"/>
    <p:sldId id="276" r:id="rId14"/>
    <p:sldId id="280" r:id="rId15"/>
    <p:sldId id="281" r:id="rId16"/>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3" d="100"/>
          <a:sy n="103" d="100"/>
        </p:scale>
        <p:origin x="874" y="77"/>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manda Barnes" userId="84475a52-7189-4e1c-89ea-f52b155dc4d2" providerId="ADAL" clId="{962346CB-F91D-4510-9050-4A106A6B8BAB}"/>
    <pc:docChg chg="delSld">
      <pc:chgData name="Amanda Barnes" userId="84475a52-7189-4e1c-89ea-f52b155dc4d2" providerId="ADAL" clId="{962346CB-F91D-4510-9050-4A106A6B8BAB}" dt="2026-03-05T17:14:38.478" v="10" actId="47"/>
      <pc:docMkLst>
        <pc:docMk/>
      </pc:docMkLst>
      <pc:sldChg chg="del">
        <pc:chgData name="Amanda Barnes" userId="84475a52-7189-4e1c-89ea-f52b155dc4d2" providerId="ADAL" clId="{962346CB-F91D-4510-9050-4A106A6B8BAB}" dt="2026-03-05T17:13:33.551" v="0" actId="47"/>
        <pc:sldMkLst>
          <pc:docMk/>
          <pc:sldMk cId="0" sldId="261"/>
        </pc:sldMkLst>
      </pc:sldChg>
      <pc:sldChg chg="del">
        <pc:chgData name="Amanda Barnes" userId="84475a52-7189-4e1c-89ea-f52b155dc4d2" providerId="ADAL" clId="{962346CB-F91D-4510-9050-4A106A6B8BAB}" dt="2026-03-05T17:13:56.498" v="1" actId="47"/>
        <pc:sldMkLst>
          <pc:docMk/>
          <pc:sldMk cId="0" sldId="268"/>
        </pc:sldMkLst>
      </pc:sldChg>
      <pc:sldChg chg="del">
        <pc:chgData name="Amanda Barnes" userId="84475a52-7189-4e1c-89ea-f52b155dc4d2" providerId="ADAL" clId="{962346CB-F91D-4510-9050-4A106A6B8BAB}" dt="2026-03-05T17:13:57.834" v="2" actId="47"/>
        <pc:sldMkLst>
          <pc:docMk/>
          <pc:sldMk cId="0" sldId="269"/>
        </pc:sldMkLst>
      </pc:sldChg>
      <pc:sldChg chg="del">
        <pc:chgData name="Amanda Barnes" userId="84475a52-7189-4e1c-89ea-f52b155dc4d2" providerId="ADAL" clId="{962346CB-F91D-4510-9050-4A106A6B8BAB}" dt="2026-03-05T17:13:59.757" v="3" actId="47"/>
        <pc:sldMkLst>
          <pc:docMk/>
          <pc:sldMk cId="0" sldId="270"/>
        </pc:sldMkLst>
      </pc:sldChg>
      <pc:sldChg chg="del">
        <pc:chgData name="Amanda Barnes" userId="84475a52-7189-4e1c-89ea-f52b155dc4d2" providerId="ADAL" clId="{962346CB-F91D-4510-9050-4A106A6B8BAB}" dt="2026-03-05T17:14:13.701" v="5" actId="47"/>
        <pc:sldMkLst>
          <pc:docMk/>
          <pc:sldMk cId="0" sldId="272"/>
        </pc:sldMkLst>
      </pc:sldChg>
      <pc:sldChg chg="del">
        <pc:chgData name="Amanda Barnes" userId="84475a52-7189-4e1c-89ea-f52b155dc4d2" providerId="ADAL" clId="{962346CB-F91D-4510-9050-4A106A6B8BAB}" dt="2026-03-05T17:14:12.376" v="4" actId="47"/>
        <pc:sldMkLst>
          <pc:docMk/>
          <pc:sldMk cId="0" sldId="273"/>
        </pc:sldMkLst>
      </pc:sldChg>
      <pc:sldChg chg="del">
        <pc:chgData name="Amanda Barnes" userId="84475a52-7189-4e1c-89ea-f52b155dc4d2" providerId="ADAL" clId="{962346CB-F91D-4510-9050-4A106A6B8BAB}" dt="2026-03-05T17:14:20.711" v="6" actId="47"/>
        <pc:sldMkLst>
          <pc:docMk/>
          <pc:sldMk cId="0" sldId="274"/>
        </pc:sldMkLst>
      </pc:sldChg>
      <pc:sldChg chg="del">
        <pc:chgData name="Amanda Barnes" userId="84475a52-7189-4e1c-89ea-f52b155dc4d2" providerId="ADAL" clId="{962346CB-F91D-4510-9050-4A106A6B8BAB}" dt="2026-03-05T17:14:22.097" v="7" actId="47"/>
        <pc:sldMkLst>
          <pc:docMk/>
          <pc:sldMk cId="0" sldId="275"/>
        </pc:sldMkLst>
      </pc:sldChg>
      <pc:sldChg chg="del">
        <pc:chgData name="Amanda Barnes" userId="84475a52-7189-4e1c-89ea-f52b155dc4d2" providerId="ADAL" clId="{962346CB-F91D-4510-9050-4A106A6B8BAB}" dt="2026-03-05T17:14:34.281" v="8" actId="47"/>
        <pc:sldMkLst>
          <pc:docMk/>
          <pc:sldMk cId="0" sldId="277"/>
        </pc:sldMkLst>
      </pc:sldChg>
      <pc:sldChg chg="del">
        <pc:chgData name="Amanda Barnes" userId="84475a52-7189-4e1c-89ea-f52b155dc4d2" providerId="ADAL" clId="{962346CB-F91D-4510-9050-4A106A6B8BAB}" dt="2026-03-05T17:14:35.056" v="9" actId="47"/>
        <pc:sldMkLst>
          <pc:docMk/>
          <pc:sldMk cId="0" sldId="278"/>
        </pc:sldMkLst>
      </pc:sldChg>
      <pc:sldChg chg="del">
        <pc:chgData name="Amanda Barnes" userId="84475a52-7189-4e1c-89ea-f52b155dc4d2" providerId="ADAL" clId="{962346CB-F91D-4510-9050-4A106A6B8BAB}" dt="2026-03-05T17:14:38.478" v="10" actId="47"/>
        <pc:sldMkLst>
          <pc:docMk/>
          <pc:sldMk cId="0" sldId="27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2b8141f22d3_0_4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 name="Google Shape;59;g2b8141f22d3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Overview of the research process - have a look at the information given in 17C/8C/skills hub for introduction </a:t>
            </a:r>
            <a:endParaRPr/>
          </a:p>
          <a:p>
            <a:pPr marL="0" lvl="0" indent="0" algn="l" rtl="0">
              <a:spcBef>
                <a:spcPts val="0"/>
              </a:spcBef>
              <a:spcAft>
                <a:spcPts val="0"/>
              </a:spcAft>
              <a:buNone/>
            </a:pPr>
            <a:endParaRPr/>
          </a:p>
          <a:p>
            <a:pPr marL="0" lvl="0" indent="0" algn="l" rtl="0">
              <a:spcBef>
                <a:spcPts val="0"/>
              </a:spcBef>
              <a:spcAft>
                <a:spcPts val="0"/>
              </a:spcAft>
              <a:buNone/>
            </a:pPr>
            <a:r>
              <a:rPr lang="en"/>
              <a:t>Your skills journey and how it fits in with your final year projects and career - discuss the reflection at this point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33d82ab89bb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g33d82ab89bb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2c1b49d2a6f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 name="Google Shape;71;g2c1b49d2a6f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g2c1b49d2a6f_0_32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 name="Google Shape;77;g2c1b49d2a6f_0_3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33d82ab89bb_0_27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 name="Google Shape;105;g33d82ab89bb_0_2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g33dbf450a34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 name="Google Shape;116;g33dbf450a34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g33dbf450a34_0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4" name="Google Shape;124;g33dbf450a34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33dbf450a34_0_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9" name="Google Shape;139;g33dbf450a34_0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g33dbf450a34_0_4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6" name="Google Shape;146;g33dbf450a34_0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In-vitro analysis of MSC migration of clonal lines appears to show variation in cell shape and migration - could this be a useful property to identify MSC subtypes if it correlated with stem cell potency?</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g33dbf450a34_0_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3" name="Google Shape;173;g33dbf450a34_0_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g2c22f33f521_0_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 name="Google Shape;211;g2c22f33f521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g33e93ecbabd_1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9" name="Google Shape;249;g33e93ecbabd_1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g33d82ab89bb_0_2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1" name="Google Shape;281;g33d82ab89bb_0_2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g2c22f33f521_0_5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9" name="Google Shape;289;g2c22f33f521_0_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Overview of the research process - have a look at the information given in 17C/8C/skills hub for introduction </a:t>
            </a:r>
            <a:endParaRPr/>
          </a:p>
          <a:p>
            <a:pPr marL="0" lvl="0" indent="0" algn="l" rtl="0">
              <a:spcBef>
                <a:spcPts val="0"/>
              </a:spcBef>
              <a:spcAft>
                <a:spcPts val="0"/>
              </a:spcAft>
              <a:buNone/>
            </a:pPr>
            <a:endParaRPr/>
          </a:p>
          <a:p>
            <a:pPr marL="0" lvl="0" indent="0" algn="l" rtl="0">
              <a:spcBef>
                <a:spcPts val="0"/>
              </a:spcBef>
              <a:spcAft>
                <a:spcPts val="0"/>
              </a:spcAft>
              <a:buNone/>
            </a:pPr>
            <a:r>
              <a:rPr lang="en"/>
              <a:t>Your skills journey and how it fits in with your final year projects and career - discuss the reflection at this point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rgbClr val="FFF2CC"/>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hyperlink" Target="https://docs.google.com/document/d/1pbyrU1JPXprp5ALWlOq8YjifgeRWzy0HklvDzggMtxk/edit?tab=t.0#heading=h.3fmioidjohx7" TargetMode="External"/><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hyperlink" Target="https://academic.oup.com/stmcls/article/24/5/1294/6400808?login=true#311920326" TargetMode="External"/><Relationship Id="rId5" Type="http://schemas.openxmlformats.org/officeDocument/2006/relationships/hyperlink" Target="https://docs.google.com/document/d/1Fzk_DC5PfeVdG6m_SjhS2q_oWn9qavVCHKMv7xenIr4/edit?usp=sharing" TargetMode="Externa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7.png"/><Relationship Id="rId7" Type="http://schemas.openxmlformats.org/officeDocument/2006/relationships/hyperlink" Target="http://drive.google.com/file/d/12IRfFoQnCMD6fhqk4llobnNQA-2Ry-Gi/view" TargetMode="External"/><Relationship Id="rId2" Type="http://schemas.openxmlformats.org/officeDocument/2006/relationships/notesSlide" Target="../notesSlides/notesSlide10.xml"/><Relationship Id="rId1" Type="http://schemas.openxmlformats.org/officeDocument/2006/relationships/slideLayout" Target="../slideLayouts/slideLayout4.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hyperlink" Target="https://docs.google.com/document/d/1pbyrU1JPXprp5ALWlOq8YjifgeRWzy0HklvDzggMtxk/edit?tab=t.0#heading=h.3fmioidjohx7" TargetMode="External"/><Relationship Id="rId2" Type="http://schemas.openxmlformats.org/officeDocument/2006/relationships/notesSlide" Target="../notesSlides/notesSlide11.xml"/><Relationship Id="rId1" Type="http://schemas.openxmlformats.org/officeDocument/2006/relationships/slideLayout" Target="../slideLayouts/slideLayout3.xml"/><Relationship Id="rId5" Type="http://schemas.openxmlformats.org/officeDocument/2006/relationships/hyperlink" Target="https://academic.oup.com/stmcls/article/24/5/1294/6400808?login=true#311920326" TargetMode="External"/><Relationship Id="rId4" Type="http://schemas.openxmlformats.org/officeDocument/2006/relationships/hyperlink" Target="https://docs.google.com/document/d/1Fzk_DC5PfeVdG6m_SjhS2q_oWn9qavVCHKMv7xenIr4/edit?usp=sharing" TargetMode="Externa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hyperlink" Target="https://docs.google.com/document/d/1Fzk_DC5PfeVdG6m_SjhS2q_oWn9qavVCHKMv7xenIr4/edit?tab=t.0" TargetMode="External"/><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3.xml"/><Relationship Id="rId4" Type="http://schemas.openxmlformats.org/officeDocument/2006/relationships/hyperlink" Target="https://xerte.york.ac.uk/play.php?template_id=4175#page5" TargetMode="Externa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2CC"/>
        </a:solidFill>
        <a:effectLst/>
      </p:bgPr>
    </p:bg>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334558" y="1257400"/>
            <a:ext cx="8520600" cy="2052600"/>
          </a:xfrm>
          <a:prstGeom prst="rect">
            <a:avLst/>
          </a:prstGeom>
        </p:spPr>
        <p:txBody>
          <a:bodyPr spcFirstLastPara="1" wrap="square" lIns="91425" tIns="91425" rIns="91425" bIns="91425" anchor="b" anchorCtr="0">
            <a:normAutofit fontScale="90000"/>
          </a:bodyPr>
          <a:lstStyle/>
          <a:p>
            <a:pPr marL="0" lvl="0" indent="0" algn="ctr" rtl="0">
              <a:spcBef>
                <a:spcPts val="0"/>
              </a:spcBef>
              <a:spcAft>
                <a:spcPts val="0"/>
              </a:spcAft>
              <a:buClr>
                <a:schemeClr val="dk1"/>
              </a:buClr>
              <a:buSzPct val="26190"/>
              <a:buFont typeface="Arial"/>
              <a:buNone/>
            </a:pPr>
            <a:r>
              <a:rPr lang="en" sz="4200"/>
              <a:t>Cell Biology: Mesenchymal Stem Cell (MSC) Heterogeneity </a:t>
            </a:r>
            <a:endParaRPr sz="4200"/>
          </a:p>
          <a:p>
            <a:pPr marL="0" lvl="0" indent="0" algn="ctr" rtl="0">
              <a:spcBef>
                <a:spcPts val="0"/>
              </a:spcBef>
              <a:spcAft>
                <a:spcPts val="0"/>
              </a:spcAft>
              <a:buClr>
                <a:schemeClr val="dk1"/>
              </a:buClr>
              <a:buSzPct val="71739"/>
              <a:buFont typeface="Arial"/>
              <a:buNone/>
            </a:pPr>
            <a:endParaRPr sz="1533"/>
          </a:p>
          <a:p>
            <a:pPr marL="0" lvl="0" indent="0" algn="ctr" rtl="0">
              <a:spcBef>
                <a:spcPts val="0"/>
              </a:spcBef>
              <a:spcAft>
                <a:spcPts val="0"/>
              </a:spcAft>
              <a:buClr>
                <a:schemeClr val="dk1"/>
              </a:buClr>
              <a:buSzPct val="26190"/>
              <a:buFont typeface="Arial"/>
              <a:buNone/>
            </a:pPr>
            <a:r>
              <a:rPr lang="en" sz="4200"/>
              <a:t>Report Writing Workshop</a:t>
            </a:r>
            <a:endParaRPr sz="4200"/>
          </a:p>
        </p:txBody>
      </p:sp>
      <p:sp>
        <p:nvSpPr>
          <p:cNvPr id="55" name="Google Shape;55;p13"/>
          <p:cNvSpPr txBox="1">
            <a:spLocks noGrp="1"/>
          </p:cNvSpPr>
          <p:nvPr>
            <p:ph type="subTitle" idx="1"/>
          </p:nvPr>
        </p:nvSpPr>
        <p:spPr>
          <a:xfrm>
            <a:off x="311700" y="3879450"/>
            <a:ext cx="8520600" cy="792600"/>
          </a:xfrm>
          <a:prstGeom prst="rect">
            <a:avLst/>
          </a:prstGeom>
        </p:spPr>
        <p:txBody>
          <a:bodyPr spcFirstLastPara="1" wrap="square" lIns="91425" tIns="91425" rIns="91425" bIns="91425" anchor="t" anchorCtr="0">
            <a:normAutofit fontScale="85000" lnSpcReduction="20000"/>
          </a:bodyPr>
          <a:lstStyle/>
          <a:p>
            <a:pPr marL="0" lvl="0" indent="0" algn="ctr" rtl="0">
              <a:spcBef>
                <a:spcPts val="0"/>
              </a:spcBef>
              <a:spcAft>
                <a:spcPts val="0"/>
              </a:spcAft>
              <a:buNone/>
            </a:pPr>
            <a:r>
              <a:rPr lang="en" dirty="0"/>
              <a:t>Dr Amanda Barnes and Dr Dan Jeffares </a:t>
            </a:r>
            <a:endParaRPr dirty="0"/>
          </a:p>
          <a:p>
            <a:pPr marL="0" lvl="0" indent="0" algn="ctr" rtl="0">
              <a:spcBef>
                <a:spcPts val="0"/>
              </a:spcBef>
              <a:spcAft>
                <a:spcPts val="0"/>
              </a:spcAft>
              <a:buNone/>
            </a:pPr>
            <a:r>
              <a:rPr lang="en" dirty="0"/>
              <a:t>Check in: xxxxxx</a:t>
            </a:r>
            <a:endParaRPr dirty="0"/>
          </a:p>
        </p:txBody>
      </p:sp>
      <p:sp>
        <p:nvSpPr>
          <p:cNvPr id="56" name="Google Shape;56;p13"/>
          <p:cNvSpPr txBox="1"/>
          <p:nvPr/>
        </p:nvSpPr>
        <p:spPr>
          <a:xfrm>
            <a:off x="205100" y="195350"/>
            <a:ext cx="8627100" cy="41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2"/>
                </a:solidFill>
              </a:rPr>
              <a:t>BIO00066I: Becoming a Bioscientist 4: Research in Action </a:t>
            </a:r>
            <a:endParaRPr sz="1800">
              <a:solidFill>
                <a:schemeClr val="dk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1" name="Google Shape;61;p1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Learning Outcomes for today’s session </a:t>
            </a:r>
            <a:endParaRPr/>
          </a:p>
        </p:txBody>
      </p:sp>
      <p:sp>
        <p:nvSpPr>
          <p:cNvPr id="62" name="Google Shape;62;p1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lnSpc>
                <a:spcPct val="150000"/>
              </a:lnSpc>
              <a:spcBef>
                <a:spcPts val="1000"/>
              </a:spcBef>
              <a:spcAft>
                <a:spcPts val="0"/>
              </a:spcAft>
              <a:buSzPts val="1800"/>
              <a:buChar char="●"/>
            </a:pPr>
            <a:r>
              <a:rPr lang="en"/>
              <a:t>Understand the scientific report assessment</a:t>
            </a:r>
            <a:endParaRPr/>
          </a:p>
          <a:p>
            <a:pPr marL="457200" lvl="0" indent="-342900" algn="l" rtl="0">
              <a:lnSpc>
                <a:spcPct val="150000"/>
              </a:lnSpc>
              <a:spcBef>
                <a:spcPts val="1000"/>
              </a:spcBef>
              <a:spcAft>
                <a:spcPts val="0"/>
              </a:spcAft>
              <a:buSzPts val="1800"/>
              <a:buChar char="●"/>
            </a:pPr>
            <a:r>
              <a:rPr lang="en"/>
              <a:t>Understand the background and context to the Cell Biology research project</a:t>
            </a:r>
            <a:endParaRPr/>
          </a:p>
          <a:p>
            <a:pPr marL="457200" lvl="0" indent="-342900" algn="l" rtl="0">
              <a:lnSpc>
                <a:spcPct val="150000"/>
              </a:lnSpc>
              <a:spcBef>
                <a:spcPts val="1000"/>
              </a:spcBef>
              <a:spcAft>
                <a:spcPts val="1000"/>
              </a:spcAft>
              <a:buSzPts val="1800"/>
              <a:buChar char="●"/>
            </a:pPr>
            <a:r>
              <a:rPr lang="en"/>
              <a:t>Understand how the outputs from practical and data workshops form the basis of your scientific report</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1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How will I be assessed in this module?</a:t>
            </a:r>
            <a:endParaRPr/>
          </a:p>
        </p:txBody>
      </p:sp>
      <p:sp>
        <p:nvSpPr>
          <p:cNvPr id="68" name="Google Shape;68;p1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lnSpc>
                <a:spcPct val="100000"/>
              </a:lnSpc>
              <a:spcBef>
                <a:spcPts val="600"/>
              </a:spcBef>
              <a:spcAft>
                <a:spcPts val="0"/>
              </a:spcAft>
              <a:buNone/>
            </a:pPr>
            <a:r>
              <a:rPr lang="en" dirty="0">
                <a:solidFill>
                  <a:schemeClr val="dk1"/>
                </a:solidFill>
              </a:rPr>
              <a:t>2 Individual assessments (20 credit module, 200 hours)</a:t>
            </a:r>
            <a:endParaRPr dirty="0">
              <a:solidFill>
                <a:schemeClr val="dk1"/>
              </a:solidFill>
            </a:endParaRPr>
          </a:p>
          <a:p>
            <a:pPr marL="0" lvl="0" indent="0" algn="l" rtl="0">
              <a:lnSpc>
                <a:spcPct val="100000"/>
              </a:lnSpc>
              <a:spcBef>
                <a:spcPts val="2500"/>
              </a:spcBef>
              <a:spcAft>
                <a:spcPts val="0"/>
              </a:spcAft>
              <a:buNone/>
            </a:pPr>
            <a:r>
              <a:rPr lang="en" dirty="0">
                <a:solidFill>
                  <a:schemeClr val="dk1"/>
                </a:solidFill>
              </a:rPr>
              <a:t>The research outputs from laboratory practicals and data analysis workshops will be combined into a single research report assessed through:</a:t>
            </a:r>
            <a:endParaRPr dirty="0">
              <a:solidFill>
                <a:schemeClr val="dk1"/>
              </a:solidFill>
            </a:endParaRPr>
          </a:p>
          <a:p>
            <a:pPr marL="457200" lvl="0" indent="-342900" algn="l" rtl="0">
              <a:lnSpc>
                <a:spcPct val="100000"/>
              </a:lnSpc>
              <a:spcBef>
                <a:spcPts val="600"/>
              </a:spcBef>
              <a:spcAft>
                <a:spcPts val="0"/>
              </a:spcAft>
              <a:buClr>
                <a:schemeClr val="dk1"/>
              </a:buClr>
              <a:buSzPts val="1800"/>
              <a:buFont typeface="Arial"/>
              <a:buAutoNum type="arabicParenR"/>
            </a:pPr>
            <a:r>
              <a:rPr lang="en" dirty="0">
                <a:solidFill>
                  <a:schemeClr val="dk1"/>
                </a:solidFill>
              </a:rPr>
              <a:t>2500 word Scientific report (80%) </a:t>
            </a:r>
            <a:endParaRPr b="1" dirty="0">
              <a:solidFill>
                <a:schemeClr val="dk1"/>
              </a:solidFill>
            </a:endParaRPr>
          </a:p>
          <a:p>
            <a:pPr marL="457200" lvl="0" indent="-342900" algn="l" rtl="0">
              <a:lnSpc>
                <a:spcPct val="100000"/>
              </a:lnSpc>
              <a:spcBef>
                <a:spcPts val="600"/>
              </a:spcBef>
              <a:spcAft>
                <a:spcPts val="0"/>
              </a:spcAft>
              <a:buClr>
                <a:schemeClr val="dk1"/>
              </a:buClr>
              <a:buSzPts val="1800"/>
              <a:buFont typeface="Arial"/>
              <a:buAutoNum type="arabicParenR"/>
            </a:pPr>
            <a:r>
              <a:rPr lang="en" dirty="0">
                <a:solidFill>
                  <a:schemeClr val="dk1"/>
                </a:solidFill>
              </a:rPr>
              <a:t>RStudio project on report data analysis (20%)</a:t>
            </a:r>
            <a:endParaRPr dirty="0">
              <a:solidFill>
                <a:schemeClr val="dk1"/>
              </a:solidFill>
            </a:endParaRPr>
          </a:p>
          <a:p>
            <a:pPr marL="0" lvl="0" indent="0" algn="l" rtl="0">
              <a:lnSpc>
                <a:spcPct val="100000"/>
              </a:lnSpc>
              <a:spcBef>
                <a:spcPts val="2500"/>
              </a:spcBef>
              <a:spcAft>
                <a:spcPts val="1000"/>
              </a:spcAft>
              <a:buClr>
                <a:schemeClr val="dk1"/>
              </a:buClr>
              <a:buSzPts val="1100"/>
              <a:buFont typeface="Arial"/>
              <a:buNone/>
            </a:pPr>
            <a:r>
              <a:rPr lang="en" dirty="0">
                <a:solidFill>
                  <a:schemeClr val="dk1"/>
                </a:solidFill>
              </a:rPr>
              <a:t>Deadline for all assessment components: Thursday Week 11 (7th May at midday)</a:t>
            </a: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How will I be assessed in this module?</a:t>
            </a:r>
            <a:endParaRPr/>
          </a:p>
        </p:txBody>
      </p:sp>
      <p:sp>
        <p:nvSpPr>
          <p:cNvPr id="74" name="Google Shape;74;p16"/>
          <p:cNvSpPr txBox="1">
            <a:spLocks noGrp="1"/>
          </p:cNvSpPr>
          <p:nvPr>
            <p:ph type="body" idx="1"/>
          </p:nvPr>
        </p:nvSpPr>
        <p:spPr>
          <a:xfrm>
            <a:off x="560150" y="1126300"/>
            <a:ext cx="7765500" cy="3754500"/>
          </a:xfrm>
          <a:prstGeom prst="rect">
            <a:avLst/>
          </a:prstGeom>
        </p:spPr>
        <p:txBody>
          <a:bodyPr spcFirstLastPara="1" wrap="square" lIns="91425" tIns="91425" rIns="91425" bIns="91425" anchor="t" anchorCtr="0">
            <a:normAutofit fontScale="85000" lnSpcReduction="20000"/>
          </a:bodyPr>
          <a:lstStyle/>
          <a:p>
            <a:pPr marL="0" lvl="0" indent="0" algn="l" rtl="0">
              <a:lnSpc>
                <a:spcPct val="100000"/>
              </a:lnSpc>
              <a:spcBef>
                <a:spcPts val="600"/>
              </a:spcBef>
              <a:spcAft>
                <a:spcPts val="0"/>
              </a:spcAft>
              <a:buNone/>
            </a:pPr>
            <a:r>
              <a:rPr lang="en" sz="1900" u="sng" dirty="0">
                <a:solidFill>
                  <a:schemeClr val="hlink"/>
                </a:solidFill>
                <a:hlinkClick r:id="rId3"/>
              </a:rPr>
              <a:t>2500 word scientific report </a:t>
            </a:r>
            <a:r>
              <a:rPr lang="en" sz="1900" dirty="0">
                <a:solidFill>
                  <a:schemeClr val="dk1"/>
                </a:solidFill>
              </a:rPr>
              <a:t>written individually, that uses the research outputs from laboratory practicals and data analysis workshops to address the research question </a:t>
            </a:r>
            <a:endParaRPr sz="1900" dirty="0">
              <a:solidFill>
                <a:schemeClr val="dk1"/>
              </a:solidFill>
            </a:endParaRPr>
          </a:p>
          <a:p>
            <a:pPr marL="0" lvl="0" indent="0" algn="l" rtl="0">
              <a:lnSpc>
                <a:spcPct val="100000"/>
              </a:lnSpc>
              <a:spcBef>
                <a:spcPts val="600"/>
              </a:spcBef>
              <a:spcAft>
                <a:spcPts val="0"/>
              </a:spcAft>
              <a:buNone/>
            </a:pPr>
            <a:endParaRPr sz="1900" dirty="0">
              <a:solidFill>
                <a:schemeClr val="dk1"/>
              </a:solidFill>
            </a:endParaRPr>
          </a:p>
          <a:p>
            <a:pPr marL="0" lvl="0" indent="0" algn="l" rtl="0">
              <a:lnSpc>
                <a:spcPct val="100000"/>
              </a:lnSpc>
              <a:spcBef>
                <a:spcPts val="600"/>
              </a:spcBef>
              <a:spcAft>
                <a:spcPts val="0"/>
              </a:spcAft>
              <a:buNone/>
            </a:pPr>
            <a:r>
              <a:rPr lang="en" sz="1900" dirty="0">
                <a:solidFill>
                  <a:schemeClr val="dk1"/>
                </a:solidFill>
              </a:rPr>
              <a:t>Title</a:t>
            </a:r>
            <a:endParaRPr sz="1900" dirty="0">
              <a:solidFill>
                <a:schemeClr val="dk1"/>
              </a:solidFill>
            </a:endParaRPr>
          </a:p>
          <a:p>
            <a:pPr marL="0" lvl="0" indent="0" algn="l" rtl="0">
              <a:lnSpc>
                <a:spcPct val="100000"/>
              </a:lnSpc>
              <a:spcBef>
                <a:spcPts val="600"/>
              </a:spcBef>
              <a:spcAft>
                <a:spcPts val="0"/>
              </a:spcAft>
              <a:buNone/>
            </a:pPr>
            <a:r>
              <a:rPr lang="en" sz="1900" dirty="0">
                <a:solidFill>
                  <a:schemeClr val="dk1"/>
                </a:solidFill>
              </a:rPr>
              <a:t>Abstract </a:t>
            </a:r>
            <a:endParaRPr sz="1900" dirty="0">
              <a:solidFill>
                <a:schemeClr val="dk1"/>
              </a:solidFill>
            </a:endParaRPr>
          </a:p>
          <a:p>
            <a:pPr marL="0" lvl="0" indent="0" algn="l" rtl="0">
              <a:lnSpc>
                <a:spcPct val="100000"/>
              </a:lnSpc>
              <a:spcBef>
                <a:spcPts val="600"/>
              </a:spcBef>
              <a:spcAft>
                <a:spcPts val="0"/>
              </a:spcAft>
              <a:buNone/>
            </a:pPr>
            <a:r>
              <a:rPr lang="en" sz="1900" dirty="0">
                <a:solidFill>
                  <a:schemeClr val="dk1"/>
                </a:solidFill>
              </a:rPr>
              <a:t>Introduction</a:t>
            </a:r>
            <a:endParaRPr sz="1900" dirty="0">
              <a:solidFill>
                <a:schemeClr val="dk1"/>
              </a:solidFill>
            </a:endParaRPr>
          </a:p>
          <a:p>
            <a:pPr marL="0" lvl="0" indent="0" algn="l" rtl="0">
              <a:lnSpc>
                <a:spcPct val="100000"/>
              </a:lnSpc>
              <a:spcBef>
                <a:spcPts val="600"/>
              </a:spcBef>
              <a:spcAft>
                <a:spcPts val="0"/>
              </a:spcAft>
              <a:buNone/>
            </a:pPr>
            <a:r>
              <a:rPr lang="en" sz="1900" dirty="0">
                <a:solidFill>
                  <a:schemeClr val="dk1"/>
                </a:solidFill>
              </a:rPr>
              <a:t>Approach (justification of methods rather than a methods section) </a:t>
            </a:r>
            <a:endParaRPr sz="1900" dirty="0">
              <a:solidFill>
                <a:schemeClr val="dk1"/>
              </a:solidFill>
            </a:endParaRPr>
          </a:p>
          <a:p>
            <a:pPr marL="0" lvl="0" indent="0" algn="l" rtl="0">
              <a:lnSpc>
                <a:spcPct val="100000"/>
              </a:lnSpc>
              <a:spcBef>
                <a:spcPts val="600"/>
              </a:spcBef>
              <a:spcAft>
                <a:spcPts val="0"/>
              </a:spcAft>
              <a:buNone/>
            </a:pPr>
            <a:r>
              <a:rPr lang="en" sz="1900" dirty="0">
                <a:solidFill>
                  <a:schemeClr val="dk1"/>
                </a:solidFill>
              </a:rPr>
              <a:t>Results</a:t>
            </a:r>
            <a:endParaRPr sz="1900" dirty="0">
              <a:solidFill>
                <a:schemeClr val="dk1"/>
              </a:solidFill>
            </a:endParaRPr>
          </a:p>
          <a:p>
            <a:pPr marL="0" lvl="0" indent="0" algn="l" rtl="0">
              <a:lnSpc>
                <a:spcPct val="100000"/>
              </a:lnSpc>
              <a:spcBef>
                <a:spcPts val="600"/>
              </a:spcBef>
              <a:spcAft>
                <a:spcPts val="0"/>
              </a:spcAft>
              <a:buNone/>
            </a:pPr>
            <a:r>
              <a:rPr lang="en" sz="1900" dirty="0">
                <a:solidFill>
                  <a:schemeClr val="dk1"/>
                </a:solidFill>
              </a:rPr>
              <a:t>Discussion</a:t>
            </a:r>
            <a:endParaRPr sz="1900" dirty="0">
              <a:solidFill>
                <a:schemeClr val="dk1"/>
              </a:solidFill>
            </a:endParaRPr>
          </a:p>
          <a:p>
            <a:pPr marL="0" lvl="0" indent="0" algn="l" rtl="0">
              <a:lnSpc>
                <a:spcPct val="100000"/>
              </a:lnSpc>
              <a:spcBef>
                <a:spcPts val="600"/>
              </a:spcBef>
              <a:spcAft>
                <a:spcPts val="0"/>
              </a:spcAft>
              <a:buNone/>
            </a:pPr>
            <a:r>
              <a:rPr lang="en" sz="1900" dirty="0">
                <a:solidFill>
                  <a:schemeClr val="dk1"/>
                </a:solidFill>
              </a:rPr>
              <a:t>References (Harvard referencing style)</a:t>
            </a:r>
            <a:endParaRPr sz="1900" dirty="0">
              <a:solidFill>
                <a:schemeClr val="dk1"/>
              </a:solidFill>
            </a:endParaRPr>
          </a:p>
          <a:p>
            <a:pPr marL="0" lvl="0" indent="0" algn="l" rtl="0">
              <a:lnSpc>
                <a:spcPct val="100000"/>
              </a:lnSpc>
              <a:spcBef>
                <a:spcPts val="600"/>
              </a:spcBef>
              <a:spcAft>
                <a:spcPts val="0"/>
              </a:spcAft>
              <a:buClr>
                <a:schemeClr val="dk1"/>
              </a:buClr>
              <a:buSzPct val="61111"/>
              <a:buFont typeface="Arial"/>
              <a:buNone/>
            </a:pPr>
            <a:endParaRPr dirty="0">
              <a:solidFill>
                <a:schemeClr val="dk1"/>
              </a:solidFill>
            </a:endParaRPr>
          </a:p>
          <a:p>
            <a:pPr marL="0" lvl="0" indent="0" algn="l" rtl="0">
              <a:spcBef>
                <a:spcPts val="0"/>
              </a:spcBef>
              <a:spcAft>
                <a:spcPts val="1200"/>
              </a:spcAft>
              <a:buNone/>
            </a:pPr>
            <a:r>
              <a:rPr lang="en" dirty="0"/>
              <a:t>No methods section is needed, results and discussion should not be combined into one section </a:t>
            </a:r>
            <a:endParaRP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79" name="Google Shape;79;p17"/>
          <p:cNvSpPr txBox="1">
            <a:spLocks noGrp="1"/>
          </p:cNvSpPr>
          <p:nvPr>
            <p:ph type="title"/>
          </p:nvPr>
        </p:nvSpPr>
        <p:spPr>
          <a:xfrm>
            <a:off x="311700" y="1723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Exercise 1: How is an introduction structured? </a:t>
            </a:r>
            <a:endParaRPr/>
          </a:p>
        </p:txBody>
      </p:sp>
      <p:pic>
        <p:nvPicPr>
          <p:cNvPr id="80" name="Google Shape;80;p17"/>
          <p:cNvPicPr preferRelativeResize="0"/>
          <p:nvPr/>
        </p:nvPicPr>
        <p:blipFill>
          <a:blip r:embed="rId3">
            <a:alphaModFix/>
          </a:blip>
          <a:stretch>
            <a:fillRect/>
          </a:stretch>
        </p:blipFill>
        <p:spPr>
          <a:xfrm>
            <a:off x="1495425" y="1472800"/>
            <a:ext cx="6000750" cy="647700"/>
          </a:xfrm>
          <a:prstGeom prst="rect">
            <a:avLst/>
          </a:prstGeom>
          <a:noFill/>
          <a:ln>
            <a:noFill/>
          </a:ln>
        </p:spPr>
      </p:pic>
      <p:pic>
        <p:nvPicPr>
          <p:cNvPr id="81" name="Google Shape;81;p17"/>
          <p:cNvPicPr preferRelativeResize="0"/>
          <p:nvPr/>
        </p:nvPicPr>
        <p:blipFill>
          <a:blip r:embed="rId4">
            <a:alphaModFix/>
          </a:blip>
          <a:stretch>
            <a:fillRect/>
          </a:stretch>
        </p:blipFill>
        <p:spPr>
          <a:xfrm>
            <a:off x="1063188" y="2174550"/>
            <a:ext cx="6865223" cy="2844087"/>
          </a:xfrm>
          <a:prstGeom prst="rect">
            <a:avLst/>
          </a:prstGeom>
          <a:noFill/>
          <a:ln>
            <a:noFill/>
          </a:ln>
        </p:spPr>
      </p:pic>
      <p:sp>
        <p:nvSpPr>
          <p:cNvPr id="82" name="Google Shape;82;p17"/>
          <p:cNvSpPr txBox="1"/>
          <p:nvPr/>
        </p:nvSpPr>
        <p:spPr>
          <a:xfrm>
            <a:off x="302250" y="799950"/>
            <a:ext cx="8539500" cy="436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dirty="0">
                <a:solidFill>
                  <a:schemeClr val="dk2"/>
                </a:solidFill>
              </a:rPr>
              <a:t>Read through the introduction and analyse the structure. What is the purpose of the different paragraphs? </a:t>
            </a:r>
            <a:r>
              <a:rPr lang="en" sz="1600" u="sng" dirty="0">
                <a:solidFill>
                  <a:schemeClr val="hlink"/>
                </a:solidFill>
                <a:hlinkClick r:id="rId5"/>
              </a:rPr>
              <a:t>Digital copy of Introduction</a:t>
            </a:r>
            <a:r>
              <a:rPr lang="en" sz="1600" dirty="0">
                <a:solidFill>
                  <a:schemeClr val="dk2"/>
                </a:solidFill>
              </a:rPr>
              <a:t>, </a:t>
            </a:r>
            <a:r>
              <a:rPr lang="en" sz="1600" u="sng" dirty="0">
                <a:solidFill>
                  <a:schemeClr val="hlink"/>
                </a:solidFill>
                <a:hlinkClick r:id="rId6"/>
              </a:rPr>
              <a:t>Direct Link to Paper</a:t>
            </a:r>
            <a:endParaRPr sz="1600" dirty="0">
              <a:solidFill>
                <a:schemeClr val="dk2"/>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19"/>
          <p:cNvSpPr txBox="1">
            <a:spLocks noGrp="1"/>
          </p:cNvSpPr>
          <p:nvPr>
            <p:ph type="title"/>
          </p:nvPr>
        </p:nvSpPr>
        <p:spPr>
          <a:xfrm>
            <a:off x="311700" y="686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Exercise 1: How is an introduction structured? </a:t>
            </a:r>
            <a:endParaRPr/>
          </a:p>
        </p:txBody>
      </p:sp>
      <p:pic>
        <p:nvPicPr>
          <p:cNvPr id="108" name="Google Shape;108;p19"/>
          <p:cNvPicPr preferRelativeResize="0"/>
          <p:nvPr/>
        </p:nvPicPr>
        <p:blipFill rotWithShape="1">
          <a:blip r:embed="rId3">
            <a:alphaModFix/>
          </a:blip>
          <a:srcRect l="2696" t="1419" r="19814" b="1989"/>
          <a:stretch/>
        </p:blipFill>
        <p:spPr>
          <a:xfrm>
            <a:off x="474250" y="1942324"/>
            <a:ext cx="4195275" cy="3063576"/>
          </a:xfrm>
          <a:prstGeom prst="rect">
            <a:avLst/>
          </a:prstGeom>
          <a:noFill/>
          <a:ln>
            <a:noFill/>
          </a:ln>
        </p:spPr>
      </p:pic>
      <p:sp>
        <p:nvSpPr>
          <p:cNvPr id="109" name="Google Shape;109;p19"/>
          <p:cNvSpPr/>
          <p:nvPr/>
        </p:nvSpPr>
        <p:spPr>
          <a:xfrm>
            <a:off x="422425" y="1841625"/>
            <a:ext cx="8409900" cy="1746600"/>
          </a:xfrm>
          <a:prstGeom prst="rect">
            <a:avLst/>
          </a:prstGeom>
          <a:noFill/>
          <a:ln w="2857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0" name="Google Shape;110;p19"/>
          <p:cNvSpPr txBox="1"/>
          <p:nvPr/>
        </p:nvSpPr>
        <p:spPr>
          <a:xfrm>
            <a:off x="3345550" y="2019150"/>
            <a:ext cx="5142600" cy="1460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rPr>
              <a:t>These should be supported by primary literature (research articles not review papers and should be the original source rather than another article which describes the work). Initial work from MSCs was 1960s onwards, but newer papers should be also be included to show current knowledge.</a:t>
            </a:r>
            <a:endParaRPr>
              <a:solidFill>
                <a:schemeClr val="dk1"/>
              </a:solidFill>
            </a:endParaRPr>
          </a:p>
        </p:txBody>
      </p:sp>
      <p:sp>
        <p:nvSpPr>
          <p:cNvPr id="111" name="Google Shape;111;p19"/>
          <p:cNvSpPr txBox="1">
            <a:spLocks noGrp="1"/>
          </p:cNvSpPr>
          <p:nvPr>
            <p:ph type="body" idx="1"/>
          </p:nvPr>
        </p:nvSpPr>
        <p:spPr>
          <a:xfrm>
            <a:off x="185850" y="641325"/>
            <a:ext cx="8772300" cy="9936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400">
                <a:solidFill>
                  <a:srgbClr val="1D1D1D"/>
                </a:solidFill>
              </a:rPr>
              <a:t>The module began with an introduction </a:t>
            </a:r>
            <a:r>
              <a:rPr lang="en" sz="1400" b="1">
                <a:solidFill>
                  <a:srgbClr val="1D1D1D"/>
                </a:solidFill>
              </a:rPr>
              <a:t>giving background information on the subject area</a:t>
            </a:r>
            <a:r>
              <a:rPr lang="en" sz="1400">
                <a:solidFill>
                  <a:srgbClr val="1D1D1D"/>
                </a:solidFill>
              </a:rPr>
              <a:t> to help you </a:t>
            </a:r>
            <a:r>
              <a:rPr lang="en" sz="1400" b="1">
                <a:solidFill>
                  <a:srgbClr val="1D1D1D"/>
                </a:solidFill>
              </a:rPr>
              <a:t>understand where this project fits</a:t>
            </a:r>
            <a:r>
              <a:rPr lang="en" sz="1400">
                <a:solidFill>
                  <a:srgbClr val="1D1D1D"/>
                </a:solidFill>
              </a:rPr>
              <a:t> - your report introduction needs to do that as well to help the reader </a:t>
            </a:r>
            <a:r>
              <a:rPr lang="en" sz="1400" b="1">
                <a:solidFill>
                  <a:srgbClr val="1D1D1D"/>
                </a:solidFill>
              </a:rPr>
              <a:t>understand why you are doing the research and why it’s important! </a:t>
            </a:r>
            <a:r>
              <a:rPr lang="en" sz="1400">
                <a:solidFill>
                  <a:srgbClr val="1D1D1D"/>
                </a:solidFill>
              </a:rPr>
              <a:t>It should follow a funnel structure beginning broad and narrow to the research aim.</a:t>
            </a:r>
            <a:endParaRPr sz="1400">
              <a:solidFill>
                <a:srgbClr val="1D1D1D"/>
              </a:solidFill>
            </a:endParaRPr>
          </a:p>
          <a:p>
            <a:pPr marL="0" lvl="0" indent="0" algn="l" rtl="0">
              <a:spcBef>
                <a:spcPts val="0"/>
              </a:spcBef>
              <a:spcAft>
                <a:spcPts val="1200"/>
              </a:spcAft>
              <a:buNone/>
            </a:pPr>
            <a:endParaRPr sz="1400"/>
          </a:p>
        </p:txBody>
      </p:sp>
      <p:sp>
        <p:nvSpPr>
          <p:cNvPr id="112" name="Google Shape;112;p19"/>
          <p:cNvSpPr/>
          <p:nvPr/>
        </p:nvSpPr>
        <p:spPr>
          <a:xfrm>
            <a:off x="422425" y="4267050"/>
            <a:ext cx="8409900" cy="799500"/>
          </a:xfrm>
          <a:prstGeom prst="rect">
            <a:avLst/>
          </a:prstGeom>
          <a:noFill/>
          <a:ln w="2857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3" name="Google Shape;113;p19"/>
          <p:cNvSpPr txBox="1"/>
          <p:nvPr/>
        </p:nvSpPr>
        <p:spPr>
          <a:xfrm>
            <a:off x="3402900" y="4334250"/>
            <a:ext cx="5142600" cy="665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rPr>
              <a:t>In this report you are asked to write a separate ‘Approach’ section to justify the experimental plan.</a:t>
            </a:r>
            <a:endParaRPr>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20"/>
          <p:cNvSpPr txBox="1">
            <a:spLocks noGrp="1"/>
          </p:cNvSpPr>
          <p:nvPr>
            <p:ph type="title"/>
          </p:nvPr>
        </p:nvSpPr>
        <p:spPr>
          <a:xfrm>
            <a:off x="311700" y="2926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Our Research Area: MSCs vary in their potential to differentiate </a:t>
            </a:r>
            <a:endParaRPr/>
          </a:p>
        </p:txBody>
      </p:sp>
      <p:sp>
        <p:nvSpPr>
          <p:cNvPr id="119" name="Google Shape;119;p20"/>
          <p:cNvSpPr txBox="1">
            <a:spLocks noGrp="1"/>
          </p:cNvSpPr>
          <p:nvPr>
            <p:ph type="body" idx="1"/>
          </p:nvPr>
        </p:nvSpPr>
        <p:spPr>
          <a:xfrm>
            <a:off x="168275" y="1484400"/>
            <a:ext cx="3436500" cy="3659100"/>
          </a:xfrm>
          <a:prstGeom prst="rect">
            <a:avLst/>
          </a:prstGeom>
        </p:spPr>
        <p:txBody>
          <a:bodyPr spcFirstLastPara="1" wrap="square" lIns="91425" tIns="91425" rIns="91425" bIns="91425" anchor="t" anchorCtr="0">
            <a:normAutofit fontScale="85000" lnSpcReduction="20000"/>
          </a:bodyPr>
          <a:lstStyle/>
          <a:p>
            <a:pPr marL="457200" lvl="0" indent="-312261" algn="l" rtl="0">
              <a:spcBef>
                <a:spcPts val="1000"/>
              </a:spcBef>
              <a:spcAft>
                <a:spcPts val="0"/>
              </a:spcAft>
              <a:buSzPct val="100000"/>
              <a:buChar char="●"/>
            </a:pPr>
            <a:r>
              <a:rPr lang="en" sz="1700"/>
              <a:t>Not all Mesenchymal stem cells (MSCs) are the same. They are a mixed population (heterogenous) of cells ranging from tripotent to nullipotent </a:t>
            </a:r>
            <a:endParaRPr sz="1700"/>
          </a:p>
          <a:p>
            <a:pPr marL="457200" lvl="0" indent="-312261" algn="l" rtl="0">
              <a:spcBef>
                <a:spcPts val="1200"/>
              </a:spcBef>
              <a:spcAft>
                <a:spcPts val="0"/>
              </a:spcAft>
              <a:buSzPct val="100000"/>
              <a:buChar char="●"/>
            </a:pPr>
            <a:r>
              <a:rPr lang="en" sz="1700"/>
              <a:t>For use therapeutically it could be beneficial to isolate a subpopulation of MSCs that have specific characteristics. E.g. Osteogenic cells for bone repair</a:t>
            </a:r>
            <a:endParaRPr sz="1700"/>
          </a:p>
          <a:p>
            <a:pPr marL="457200" lvl="0" indent="-312261" algn="l" rtl="0">
              <a:spcBef>
                <a:spcPts val="1200"/>
              </a:spcBef>
              <a:spcAft>
                <a:spcPts val="0"/>
              </a:spcAft>
              <a:buSzPct val="100000"/>
              <a:buChar char="●"/>
            </a:pPr>
            <a:r>
              <a:rPr lang="en" sz="1700"/>
              <a:t>Clonal lines (lines of cells derived from a single stem cell) are used to investigate the properties of subpopulations</a:t>
            </a:r>
            <a:endParaRPr sz="1700"/>
          </a:p>
          <a:p>
            <a:pPr marL="0" lvl="0" indent="0" algn="l" rtl="0">
              <a:spcBef>
                <a:spcPts val="1200"/>
              </a:spcBef>
              <a:spcAft>
                <a:spcPts val="1200"/>
              </a:spcAft>
              <a:buNone/>
            </a:pPr>
            <a:endParaRPr sz="1700"/>
          </a:p>
        </p:txBody>
      </p:sp>
      <p:pic>
        <p:nvPicPr>
          <p:cNvPr id="120" name="Google Shape;120;p20" descr="MSCs are heterogenous and differentiate into progenitor cells which have differing abilities to give rise to osteoblasts, chondrocytes, adipocytes and stromal cells."/>
          <p:cNvPicPr preferRelativeResize="0"/>
          <p:nvPr/>
        </p:nvPicPr>
        <p:blipFill>
          <a:blip r:embed="rId3">
            <a:alphaModFix/>
          </a:blip>
          <a:stretch>
            <a:fillRect/>
          </a:stretch>
        </p:blipFill>
        <p:spPr>
          <a:xfrm>
            <a:off x="4132850" y="1181675"/>
            <a:ext cx="4563674" cy="2780175"/>
          </a:xfrm>
          <a:prstGeom prst="rect">
            <a:avLst/>
          </a:prstGeom>
          <a:noFill/>
          <a:ln>
            <a:noFill/>
          </a:ln>
        </p:spPr>
      </p:pic>
      <p:sp>
        <p:nvSpPr>
          <p:cNvPr id="121" name="Google Shape;121;p20"/>
          <p:cNvSpPr txBox="1"/>
          <p:nvPr/>
        </p:nvSpPr>
        <p:spPr>
          <a:xfrm>
            <a:off x="3897025" y="4111250"/>
            <a:ext cx="5108100" cy="929700"/>
          </a:xfrm>
          <a:prstGeom prst="rect">
            <a:avLst/>
          </a:prstGeom>
          <a:solidFill>
            <a:srgbClr val="C9DAF8"/>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2"/>
                </a:solidFill>
              </a:rPr>
              <a:t>Tripotent - cells that can differentiate into bone (osteogenesis), cartilage (chondrogenesis) and fat (adipogenesis) cells</a:t>
            </a:r>
            <a:endParaRPr>
              <a:solidFill>
                <a:schemeClr val="dk2"/>
              </a:solidFill>
            </a:endParaRPr>
          </a:p>
          <a:p>
            <a:pPr marL="0" lvl="0" indent="0" algn="l" rtl="0">
              <a:spcBef>
                <a:spcPts val="1000"/>
              </a:spcBef>
              <a:spcAft>
                <a:spcPts val="0"/>
              </a:spcAft>
              <a:buNone/>
            </a:pPr>
            <a:r>
              <a:rPr lang="en">
                <a:solidFill>
                  <a:schemeClr val="dk2"/>
                </a:solidFill>
              </a:rPr>
              <a:t>Nullipotent - cells that can’t differentiate</a:t>
            </a:r>
            <a:endParaRPr>
              <a:solidFill>
                <a:schemeClr val="dk2"/>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21"/>
          <p:cNvSpPr txBox="1">
            <a:spLocks noGrp="1"/>
          </p:cNvSpPr>
          <p:nvPr>
            <p:ph type="title"/>
          </p:nvPr>
        </p:nvSpPr>
        <p:spPr>
          <a:xfrm>
            <a:off x="311700" y="2926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MSCs vary in their potential to differentiate </a:t>
            </a:r>
            <a:endParaRPr/>
          </a:p>
        </p:txBody>
      </p:sp>
      <p:sp>
        <p:nvSpPr>
          <p:cNvPr id="127" name="Google Shape;127;p21"/>
          <p:cNvSpPr txBox="1">
            <a:spLocks noGrp="1"/>
          </p:cNvSpPr>
          <p:nvPr>
            <p:ph type="body" idx="1"/>
          </p:nvPr>
        </p:nvSpPr>
        <p:spPr>
          <a:xfrm>
            <a:off x="103025" y="1083625"/>
            <a:ext cx="3209700" cy="3859800"/>
          </a:xfrm>
          <a:prstGeom prst="rect">
            <a:avLst/>
          </a:prstGeom>
        </p:spPr>
        <p:txBody>
          <a:bodyPr spcFirstLastPara="1" wrap="square" lIns="91425" tIns="91425" rIns="91425" bIns="91425" anchor="t" anchorCtr="0">
            <a:normAutofit fontScale="85000" lnSpcReduction="20000"/>
          </a:bodyPr>
          <a:lstStyle/>
          <a:p>
            <a:pPr marL="457200" lvl="0" indent="-314960" algn="l" rtl="0">
              <a:spcBef>
                <a:spcPts val="0"/>
              </a:spcBef>
              <a:spcAft>
                <a:spcPts val="0"/>
              </a:spcAft>
              <a:buSzPct val="100000"/>
              <a:buChar char="●"/>
            </a:pPr>
            <a:r>
              <a:rPr lang="en" sz="1600"/>
              <a:t>Specific stains are used to confirm if MSCs can differentiate. Subpopulations that were differentiated (left) vary in AOC potency. One subpopulation is tripotent (a,b,c) and another is nullipotent (g,h,i)</a:t>
            </a:r>
            <a:endParaRPr sz="1600"/>
          </a:p>
          <a:p>
            <a:pPr marL="457200" lvl="0" indent="-314960" algn="l" rtl="0">
              <a:spcBef>
                <a:spcPts val="1000"/>
              </a:spcBef>
              <a:spcAft>
                <a:spcPts val="0"/>
              </a:spcAft>
              <a:buSzPct val="100000"/>
              <a:buChar char="●"/>
            </a:pPr>
            <a:r>
              <a:rPr lang="en" sz="1600"/>
              <a:t>Analysis of cell surface markers is currently used to confirm if an isolated population of cells from bone marrow or fat are MSCs. But these markers are on all cells in an MSC population and don’t distinguish between subpopulations (</a:t>
            </a:r>
            <a:r>
              <a:rPr lang="en" sz="1600">
                <a:solidFill>
                  <a:srgbClr val="707070"/>
                </a:solidFill>
              </a:rPr>
              <a:t>Cytotherapy, 8 (2006), pp. 315-317)</a:t>
            </a:r>
            <a:r>
              <a:rPr lang="en" sz="1600"/>
              <a:t> </a:t>
            </a:r>
            <a:endParaRPr sz="1600"/>
          </a:p>
        </p:txBody>
      </p:sp>
      <p:pic>
        <p:nvPicPr>
          <p:cNvPr id="128" name="Google Shape;128;p21" descr="MSCs potency as shown  by positive staining for differentiation markers following differentiation (adipogenesis, osteogenesis and chondrogenesis). Some MSCs are tripotent and exhibit positive staining for all markers, whilst other MSCs are unipotent or nullipotent and aren't positive for all or any differentiation markers."/>
          <p:cNvPicPr preferRelativeResize="0"/>
          <p:nvPr/>
        </p:nvPicPr>
        <p:blipFill>
          <a:blip r:embed="rId3">
            <a:alphaModFix/>
          </a:blip>
          <a:stretch>
            <a:fillRect/>
          </a:stretch>
        </p:blipFill>
        <p:spPr>
          <a:xfrm>
            <a:off x="4724400" y="1017713"/>
            <a:ext cx="4267199" cy="3522132"/>
          </a:xfrm>
          <a:prstGeom prst="rect">
            <a:avLst/>
          </a:prstGeom>
          <a:noFill/>
          <a:ln>
            <a:noFill/>
          </a:ln>
        </p:spPr>
      </p:pic>
      <p:sp>
        <p:nvSpPr>
          <p:cNvPr id="129" name="Google Shape;129;p21"/>
          <p:cNvSpPr txBox="1"/>
          <p:nvPr/>
        </p:nvSpPr>
        <p:spPr>
          <a:xfrm>
            <a:off x="5658775" y="4804800"/>
            <a:ext cx="3543300" cy="338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a:t>Biochem. and Biophys. Res. Comms. 295 (2002) 354–361</a:t>
            </a:r>
            <a:endParaRPr sz="1000"/>
          </a:p>
        </p:txBody>
      </p:sp>
      <p:sp>
        <p:nvSpPr>
          <p:cNvPr id="130" name="Google Shape;130;p21"/>
          <p:cNvSpPr txBox="1"/>
          <p:nvPr/>
        </p:nvSpPr>
        <p:spPr>
          <a:xfrm>
            <a:off x="4800600" y="4440675"/>
            <a:ext cx="1399200" cy="200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solidFill>
                  <a:schemeClr val="dk1"/>
                </a:solidFill>
              </a:rPr>
              <a:t>Adipogenesis (A)</a:t>
            </a:r>
            <a:endParaRPr sz="1100" b="1">
              <a:solidFill>
                <a:schemeClr val="dk1"/>
              </a:solidFill>
            </a:endParaRPr>
          </a:p>
        </p:txBody>
      </p:sp>
      <p:sp>
        <p:nvSpPr>
          <p:cNvPr id="131" name="Google Shape;131;p21"/>
          <p:cNvSpPr txBox="1"/>
          <p:nvPr/>
        </p:nvSpPr>
        <p:spPr>
          <a:xfrm>
            <a:off x="6199800" y="4440675"/>
            <a:ext cx="1399200" cy="200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solidFill>
                  <a:schemeClr val="dk1"/>
                </a:solidFill>
              </a:rPr>
              <a:t>Osteogenesis (O)</a:t>
            </a:r>
            <a:endParaRPr sz="1100" b="1">
              <a:solidFill>
                <a:schemeClr val="dk1"/>
              </a:solidFill>
            </a:endParaRPr>
          </a:p>
        </p:txBody>
      </p:sp>
      <p:sp>
        <p:nvSpPr>
          <p:cNvPr id="132" name="Google Shape;132;p21"/>
          <p:cNvSpPr txBox="1"/>
          <p:nvPr/>
        </p:nvSpPr>
        <p:spPr>
          <a:xfrm>
            <a:off x="7518850" y="4440675"/>
            <a:ext cx="1625100" cy="200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solidFill>
                  <a:schemeClr val="dk1"/>
                </a:solidFill>
              </a:rPr>
              <a:t>Chondrogenesis (C)</a:t>
            </a:r>
            <a:endParaRPr sz="1100" b="1">
              <a:solidFill>
                <a:schemeClr val="dk1"/>
              </a:solidFill>
            </a:endParaRPr>
          </a:p>
        </p:txBody>
      </p:sp>
      <p:sp>
        <p:nvSpPr>
          <p:cNvPr id="133" name="Google Shape;133;p21" descr="decorative"/>
          <p:cNvSpPr/>
          <p:nvPr/>
        </p:nvSpPr>
        <p:spPr>
          <a:xfrm>
            <a:off x="3472075" y="1225225"/>
            <a:ext cx="5533200" cy="1115400"/>
          </a:xfrm>
          <a:prstGeom prst="rect">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4" name="Google Shape;134;p21"/>
          <p:cNvSpPr txBox="1"/>
          <p:nvPr/>
        </p:nvSpPr>
        <p:spPr>
          <a:xfrm>
            <a:off x="3457850" y="1356125"/>
            <a:ext cx="1319100" cy="433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2"/>
                </a:solidFill>
              </a:rPr>
              <a:t>Tripotent MSC subpopulation</a:t>
            </a:r>
            <a:endParaRPr>
              <a:solidFill>
                <a:schemeClr val="dk2"/>
              </a:solidFill>
            </a:endParaRPr>
          </a:p>
        </p:txBody>
      </p:sp>
      <p:sp>
        <p:nvSpPr>
          <p:cNvPr id="135" name="Google Shape;135;p21" descr="decorative"/>
          <p:cNvSpPr/>
          <p:nvPr/>
        </p:nvSpPr>
        <p:spPr>
          <a:xfrm>
            <a:off x="3472075" y="3424450"/>
            <a:ext cx="5533200" cy="1115400"/>
          </a:xfrm>
          <a:prstGeom prst="rect">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6" name="Google Shape;136;p21"/>
          <p:cNvSpPr txBox="1"/>
          <p:nvPr/>
        </p:nvSpPr>
        <p:spPr>
          <a:xfrm>
            <a:off x="3489800" y="3597800"/>
            <a:ext cx="1319100" cy="433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2"/>
                </a:solidFill>
              </a:rPr>
              <a:t>Nullipotent MSC subpopulation</a:t>
            </a:r>
            <a:endParaRPr>
              <a:solidFill>
                <a:schemeClr val="dk2"/>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22"/>
          <p:cNvSpPr txBox="1">
            <a:spLocks noGrp="1"/>
          </p:cNvSpPr>
          <p:nvPr>
            <p:ph type="title"/>
          </p:nvPr>
        </p:nvSpPr>
        <p:spPr>
          <a:xfrm>
            <a:off x="311700" y="29000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MSC subpopulations cannot be identified using cell surface markers</a:t>
            </a:r>
            <a:endParaRPr/>
          </a:p>
        </p:txBody>
      </p:sp>
      <p:sp>
        <p:nvSpPr>
          <p:cNvPr id="142" name="Google Shape;142;p22"/>
          <p:cNvSpPr txBox="1">
            <a:spLocks noGrp="1"/>
          </p:cNvSpPr>
          <p:nvPr>
            <p:ph type="body" idx="1"/>
          </p:nvPr>
        </p:nvSpPr>
        <p:spPr>
          <a:xfrm>
            <a:off x="311700" y="3885375"/>
            <a:ext cx="8520600" cy="937200"/>
          </a:xfrm>
          <a:prstGeom prst="rect">
            <a:avLst/>
          </a:prstGeom>
        </p:spPr>
        <p:txBody>
          <a:bodyPr spcFirstLastPara="1" wrap="square" lIns="91425" tIns="91425" rIns="91425" bIns="91425" anchor="t" anchorCtr="0">
            <a:normAutofit fontScale="70000" lnSpcReduction="20000"/>
          </a:bodyPr>
          <a:lstStyle/>
          <a:p>
            <a:pPr marL="0" lvl="0" indent="0" algn="l" rtl="0">
              <a:spcBef>
                <a:spcPts val="0"/>
              </a:spcBef>
              <a:spcAft>
                <a:spcPts val="1200"/>
              </a:spcAft>
              <a:buNone/>
            </a:pPr>
            <a:r>
              <a:rPr lang="en"/>
              <a:t>Flow cytometry of four different hMSC subpopulations which differ in their ability to differentiate. They have very similar profiles for cell surface markers (CD29, CD44, CD73, CD90, CD105 and CD166, negative for CD34 and CD45) even though they are functionally different.</a:t>
            </a:r>
            <a:endParaRPr/>
          </a:p>
        </p:txBody>
      </p:sp>
      <p:pic>
        <p:nvPicPr>
          <p:cNvPr id="143" name="Google Shape;143;p22" descr="Different clonal lines of MSCs express the same cell surface markers, and are also negative for the same cell surface markers"/>
          <p:cNvPicPr preferRelativeResize="0"/>
          <p:nvPr/>
        </p:nvPicPr>
        <p:blipFill>
          <a:blip r:embed="rId3">
            <a:alphaModFix/>
          </a:blip>
          <a:stretch>
            <a:fillRect/>
          </a:stretch>
        </p:blipFill>
        <p:spPr>
          <a:xfrm>
            <a:off x="1419575" y="1237950"/>
            <a:ext cx="6445801" cy="24642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23"/>
          <p:cNvSpPr txBox="1">
            <a:spLocks noGrp="1"/>
          </p:cNvSpPr>
          <p:nvPr>
            <p:ph type="title"/>
          </p:nvPr>
        </p:nvSpPr>
        <p:spPr>
          <a:xfrm>
            <a:off x="530650" y="166378"/>
            <a:ext cx="8229600" cy="857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2500" b="0"/>
              <a:t>MSC clones vary in their shape and movement</a:t>
            </a:r>
            <a:endParaRPr sz="2500" b="0"/>
          </a:p>
        </p:txBody>
      </p:sp>
      <p:sp>
        <p:nvSpPr>
          <p:cNvPr id="149" name="Google Shape;149;p23"/>
          <p:cNvSpPr txBox="1"/>
          <p:nvPr/>
        </p:nvSpPr>
        <p:spPr>
          <a:xfrm rot="-5400000">
            <a:off x="150825" y="1524173"/>
            <a:ext cx="1091700" cy="4002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 sz="2000" b="1">
                <a:solidFill>
                  <a:schemeClr val="dk1"/>
                </a:solidFill>
                <a:latin typeface="Calibri"/>
                <a:ea typeface="Calibri"/>
                <a:cs typeface="Calibri"/>
                <a:sym typeface="Calibri"/>
              </a:rPr>
              <a:t>Clone A</a:t>
            </a:r>
            <a:endParaRPr>
              <a:solidFill>
                <a:schemeClr val="dk1"/>
              </a:solidFill>
            </a:endParaRPr>
          </a:p>
        </p:txBody>
      </p:sp>
      <p:sp>
        <p:nvSpPr>
          <p:cNvPr id="150" name="Google Shape;150;p23"/>
          <p:cNvSpPr txBox="1"/>
          <p:nvPr/>
        </p:nvSpPr>
        <p:spPr>
          <a:xfrm rot="-5400000">
            <a:off x="133575" y="3016380"/>
            <a:ext cx="1126200" cy="4002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 sz="2000" b="1">
                <a:solidFill>
                  <a:schemeClr val="dk1"/>
                </a:solidFill>
                <a:latin typeface="Calibri"/>
                <a:ea typeface="Calibri"/>
                <a:cs typeface="Calibri"/>
                <a:sym typeface="Calibri"/>
              </a:rPr>
              <a:t>Clone B</a:t>
            </a:r>
            <a:endParaRPr>
              <a:solidFill>
                <a:schemeClr val="dk1"/>
              </a:solidFill>
            </a:endParaRPr>
          </a:p>
        </p:txBody>
      </p:sp>
      <p:grpSp>
        <p:nvGrpSpPr>
          <p:cNvPr id="151" name="Google Shape;151;p23"/>
          <p:cNvGrpSpPr/>
          <p:nvPr/>
        </p:nvGrpSpPr>
        <p:grpSpPr>
          <a:xfrm>
            <a:off x="868370" y="763354"/>
            <a:ext cx="3295416" cy="3174661"/>
            <a:chOff x="839789" y="1177600"/>
            <a:chExt cx="3702715" cy="3559436"/>
          </a:xfrm>
        </p:grpSpPr>
        <p:sp>
          <p:nvSpPr>
            <p:cNvPr id="152" name="Google Shape;152;p23"/>
            <p:cNvSpPr txBox="1"/>
            <p:nvPr/>
          </p:nvSpPr>
          <p:spPr>
            <a:xfrm>
              <a:off x="2093904" y="1177600"/>
              <a:ext cx="2448600" cy="3105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 sz="1200" b="1">
                  <a:solidFill>
                    <a:srgbClr val="000000"/>
                  </a:solidFill>
                  <a:latin typeface="Calibri"/>
                  <a:ea typeface="Calibri"/>
                  <a:cs typeface="Calibri"/>
                  <a:sym typeface="Calibri"/>
                </a:rPr>
                <a:t>Crystal Violet Stain</a:t>
              </a:r>
              <a:endParaRPr sz="1000"/>
            </a:p>
          </p:txBody>
        </p:sp>
        <p:grpSp>
          <p:nvGrpSpPr>
            <p:cNvPr id="153" name="Google Shape;153;p23"/>
            <p:cNvGrpSpPr/>
            <p:nvPr/>
          </p:nvGrpSpPr>
          <p:grpSpPr>
            <a:xfrm>
              <a:off x="839789" y="1454505"/>
              <a:ext cx="3555877" cy="3282531"/>
              <a:chOff x="572014" y="1603229"/>
              <a:chExt cx="4444847" cy="4128450"/>
            </a:xfrm>
          </p:grpSpPr>
          <p:pic>
            <p:nvPicPr>
              <p:cNvPr id="154" name="Google Shape;154;p23" descr="Clone B forms dense and compact colonies when grown at low density. The cells are cobblestone in shape (large and spread)."/>
              <p:cNvPicPr preferRelativeResize="0"/>
              <p:nvPr/>
            </p:nvPicPr>
            <p:blipFill rotWithShape="1">
              <a:blip r:embed="rId3">
                <a:alphaModFix/>
              </a:blip>
              <a:srcRect/>
              <a:stretch/>
            </p:blipFill>
            <p:spPr>
              <a:xfrm>
                <a:off x="572014" y="3826578"/>
                <a:ext cx="1894703" cy="1905101"/>
              </a:xfrm>
              <a:prstGeom prst="rect">
                <a:avLst/>
              </a:prstGeom>
              <a:noFill/>
              <a:ln>
                <a:noFill/>
              </a:ln>
            </p:spPr>
          </p:pic>
          <p:pic>
            <p:nvPicPr>
              <p:cNvPr id="155" name="Google Shape;155;p23" descr="Clone A forms dispersed colonies when grown at low density. The cells are fibroblastoid in shape (thin and elongated)."/>
              <p:cNvPicPr preferRelativeResize="0"/>
              <p:nvPr/>
            </p:nvPicPr>
            <p:blipFill rotWithShape="1">
              <a:blip r:embed="rId4">
                <a:alphaModFix/>
              </a:blip>
              <a:srcRect/>
              <a:stretch/>
            </p:blipFill>
            <p:spPr>
              <a:xfrm>
                <a:off x="609061" y="1616212"/>
                <a:ext cx="1857657" cy="1873268"/>
              </a:xfrm>
              <a:prstGeom prst="rect">
                <a:avLst/>
              </a:prstGeom>
              <a:noFill/>
              <a:ln>
                <a:noFill/>
              </a:ln>
            </p:spPr>
          </p:pic>
          <p:pic>
            <p:nvPicPr>
              <p:cNvPr id="156" name="Google Shape;156;p23" descr="decorative"/>
              <p:cNvPicPr preferRelativeResize="0"/>
              <p:nvPr/>
            </p:nvPicPr>
            <p:blipFill rotWithShape="1">
              <a:blip r:embed="rId5">
                <a:alphaModFix/>
              </a:blip>
              <a:srcRect l="9115" t="19240" b="6898"/>
              <a:stretch/>
            </p:blipFill>
            <p:spPr>
              <a:xfrm>
                <a:off x="2555776" y="3840770"/>
                <a:ext cx="2416202" cy="1878081"/>
              </a:xfrm>
              <a:prstGeom prst="rect">
                <a:avLst/>
              </a:prstGeom>
              <a:noFill/>
              <a:ln>
                <a:noFill/>
              </a:ln>
            </p:spPr>
          </p:pic>
          <p:pic>
            <p:nvPicPr>
              <p:cNvPr id="157" name="Google Shape;157;p23" descr="decorative"/>
              <p:cNvPicPr preferRelativeResize="0"/>
              <p:nvPr/>
            </p:nvPicPr>
            <p:blipFill rotWithShape="1">
              <a:blip r:embed="rId6">
                <a:alphaModFix/>
              </a:blip>
              <a:srcRect l="11902" t="19248" b="6057"/>
              <a:stretch/>
            </p:blipFill>
            <p:spPr>
              <a:xfrm>
                <a:off x="2555776" y="1603229"/>
                <a:ext cx="2461085" cy="1886250"/>
              </a:xfrm>
              <a:prstGeom prst="rect">
                <a:avLst/>
              </a:prstGeom>
              <a:noFill/>
              <a:ln>
                <a:noFill/>
              </a:ln>
            </p:spPr>
          </p:pic>
          <p:grpSp>
            <p:nvGrpSpPr>
              <p:cNvPr id="158" name="Google Shape;158;p23"/>
              <p:cNvGrpSpPr/>
              <p:nvPr/>
            </p:nvGrpSpPr>
            <p:grpSpPr>
              <a:xfrm>
                <a:off x="1187624" y="1616292"/>
                <a:ext cx="1368035" cy="1820170"/>
                <a:chOff x="1187624" y="1320898"/>
                <a:chExt cx="1368035" cy="1820170"/>
              </a:xfrm>
            </p:grpSpPr>
            <p:sp>
              <p:nvSpPr>
                <p:cNvPr id="159" name="Google Shape;159;p23" descr="decorative"/>
                <p:cNvSpPr/>
                <p:nvPr/>
              </p:nvSpPr>
              <p:spPr>
                <a:xfrm>
                  <a:off x="1187624" y="2196033"/>
                  <a:ext cx="432000" cy="432000"/>
                </a:xfrm>
                <a:prstGeom prst="ellipse">
                  <a:avLst/>
                </a:prstGeom>
                <a:noFill/>
                <a:ln w="25400" cap="flat" cmpd="sng">
                  <a:solidFill>
                    <a:srgbClr val="7030A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cxnSp>
              <p:nvCxnSpPr>
                <p:cNvPr id="160" name="Google Shape;160;p23" descr="decorative"/>
                <p:cNvCxnSpPr>
                  <a:stCxn id="159" idx="7"/>
                </p:cNvCxnSpPr>
                <p:nvPr/>
              </p:nvCxnSpPr>
              <p:spPr>
                <a:xfrm rot="10800000" flipH="1">
                  <a:off x="1556359" y="1320898"/>
                  <a:ext cx="999300" cy="938400"/>
                </a:xfrm>
                <a:prstGeom prst="straightConnector1">
                  <a:avLst/>
                </a:prstGeom>
                <a:noFill/>
                <a:ln w="28575" cap="flat" cmpd="sng">
                  <a:solidFill>
                    <a:srgbClr val="7030A0"/>
                  </a:solidFill>
                  <a:prstDash val="solid"/>
                  <a:round/>
                  <a:headEnd type="none" w="sm" len="sm"/>
                  <a:tailEnd type="none" w="sm" len="sm"/>
                </a:ln>
              </p:spPr>
            </p:cxnSp>
            <p:cxnSp>
              <p:nvCxnSpPr>
                <p:cNvPr id="161" name="Google Shape;161;p23" descr="decorative"/>
                <p:cNvCxnSpPr>
                  <a:stCxn id="159" idx="5"/>
                </p:cNvCxnSpPr>
                <p:nvPr/>
              </p:nvCxnSpPr>
              <p:spPr>
                <a:xfrm>
                  <a:off x="1556359" y="2564768"/>
                  <a:ext cx="999300" cy="576300"/>
                </a:xfrm>
                <a:prstGeom prst="straightConnector1">
                  <a:avLst/>
                </a:prstGeom>
                <a:noFill/>
                <a:ln w="28575" cap="flat" cmpd="sng">
                  <a:solidFill>
                    <a:srgbClr val="7030A0"/>
                  </a:solidFill>
                  <a:prstDash val="solid"/>
                  <a:round/>
                  <a:headEnd type="none" w="sm" len="sm"/>
                  <a:tailEnd type="none" w="sm" len="sm"/>
                </a:ln>
              </p:spPr>
            </p:cxnSp>
          </p:grpSp>
          <p:grpSp>
            <p:nvGrpSpPr>
              <p:cNvPr id="162" name="Google Shape;162;p23"/>
              <p:cNvGrpSpPr/>
              <p:nvPr/>
            </p:nvGrpSpPr>
            <p:grpSpPr>
              <a:xfrm>
                <a:off x="919711" y="3868448"/>
                <a:ext cx="1676435" cy="1831570"/>
                <a:chOff x="919711" y="3573054"/>
                <a:chExt cx="1676435" cy="1831570"/>
              </a:xfrm>
            </p:grpSpPr>
            <p:sp>
              <p:nvSpPr>
                <p:cNvPr id="163" name="Google Shape;163;p23" descr="decorative"/>
                <p:cNvSpPr/>
                <p:nvPr/>
              </p:nvSpPr>
              <p:spPr>
                <a:xfrm>
                  <a:off x="919711" y="4089389"/>
                  <a:ext cx="432000" cy="432000"/>
                </a:xfrm>
                <a:prstGeom prst="ellipse">
                  <a:avLst/>
                </a:prstGeom>
                <a:noFill/>
                <a:ln w="25400" cap="flat" cmpd="sng">
                  <a:solidFill>
                    <a:srgbClr val="7030A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cxnSp>
              <p:nvCxnSpPr>
                <p:cNvPr id="164" name="Google Shape;164;p23" descr="decorative"/>
                <p:cNvCxnSpPr>
                  <a:stCxn id="163" idx="7"/>
                </p:cNvCxnSpPr>
                <p:nvPr/>
              </p:nvCxnSpPr>
              <p:spPr>
                <a:xfrm rot="10800000" flipH="1">
                  <a:off x="1288446" y="3573054"/>
                  <a:ext cx="1277400" cy="579600"/>
                </a:xfrm>
                <a:prstGeom prst="straightConnector1">
                  <a:avLst/>
                </a:prstGeom>
                <a:noFill/>
                <a:ln w="28575" cap="flat" cmpd="sng">
                  <a:solidFill>
                    <a:srgbClr val="7030A0"/>
                  </a:solidFill>
                  <a:prstDash val="solid"/>
                  <a:round/>
                  <a:headEnd type="none" w="sm" len="sm"/>
                  <a:tailEnd type="none" w="sm" len="sm"/>
                </a:ln>
              </p:spPr>
            </p:cxnSp>
            <p:cxnSp>
              <p:nvCxnSpPr>
                <p:cNvPr id="165" name="Google Shape;165;p23" descr="decorative"/>
                <p:cNvCxnSpPr>
                  <a:stCxn id="163" idx="5"/>
                </p:cNvCxnSpPr>
                <p:nvPr/>
              </p:nvCxnSpPr>
              <p:spPr>
                <a:xfrm>
                  <a:off x="1288446" y="4458124"/>
                  <a:ext cx="1307700" cy="946500"/>
                </a:xfrm>
                <a:prstGeom prst="straightConnector1">
                  <a:avLst/>
                </a:prstGeom>
                <a:noFill/>
                <a:ln w="28575" cap="flat" cmpd="sng">
                  <a:solidFill>
                    <a:srgbClr val="7030A0"/>
                  </a:solidFill>
                  <a:prstDash val="solid"/>
                  <a:round/>
                  <a:headEnd type="none" w="sm" len="sm"/>
                  <a:tailEnd type="none" w="sm" len="sm"/>
                </a:ln>
              </p:spPr>
            </p:cxnSp>
          </p:grpSp>
        </p:grpSp>
        <p:grpSp>
          <p:nvGrpSpPr>
            <p:cNvPr id="166" name="Google Shape;166;p23"/>
            <p:cNvGrpSpPr/>
            <p:nvPr/>
          </p:nvGrpSpPr>
          <p:grpSpPr>
            <a:xfrm>
              <a:off x="2844576" y="1454490"/>
              <a:ext cx="1440300" cy="2279517"/>
              <a:chOff x="2844576" y="1159096"/>
              <a:chExt cx="1440300" cy="2279517"/>
            </a:xfrm>
          </p:grpSpPr>
          <p:sp>
            <p:nvSpPr>
              <p:cNvPr id="167" name="Google Shape;167;p23"/>
              <p:cNvSpPr txBox="1"/>
              <p:nvPr/>
            </p:nvSpPr>
            <p:spPr>
              <a:xfrm>
                <a:off x="2844576" y="2955313"/>
                <a:ext cx="1440300" cy="4833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r>
                  <a:rPr lang="en" sz="1100" b="1">
                    <a:solidFill>
                      <a:schemeClr val="lt1"/>
                    </a:solidFill>
                    <a:latin typeface="Calibri"/>
                    <a:ea typeface="Calibri"/>
                    <a:cs typeface="Calibri"/>
                    <a:sym typeface="Calibri"/>
                  </a:rPr>
                  <a:t>Compact</a:t>
                </a:r>
                <a:endParaRPr sz="1100">
                  <a:solidFill>
                    <a:schemeClr val="lt1"/>
                  </a:solidFill>
                </a:endParaRPr>
              </a:p>
              <a:p>
                <a:pPr marL="0" marR="0" lvl="0" indent="0" algn="r" rtl="0">
                  <a:spcBef>
                    <a:spcPts val="0"/>
                  </a:spcBef>
                  <a:spcAft>
                    <a:spcPts val="0"/>
                  </a:spcAft>
                  <a:buNone/>
                </a:pPr>
                <a:r>
                  <a:rPr lang="en" sz="1100" b="1">
                    <a:solidFill>
                      <a:schemeClr val="lt1"/>
                    </a:solidFill>
                    <a:latin typeface="Calibri"/>
                    <a:ea typeface="Calibri"/>
                    <a:cs typeface="Calibri"/>
                    <a:sym typeface="Calibri"/>
                  </a:rPr>
                  <a:t>Large, spread</a:t>
                </a:r>
                <a:endParaRPr sz="1100">
                  <a:solidFill>
                    <a:schemeClr val="lt1"/>
                  </a:solidFill>
                </a:endParaRPr>
              </a:p>
            </p:txBody>
          </p:sp>
          <p:sp>
            <p:nvSpPr>
              <p:cNvPr id="168" name="Google Shape;168;p23"/>
              <p:cNvSpPr txBox="1"/>
              <p:nvPr/>
            </p:nvSpPr>
            <p:spPr>
              <a:xfrm>
                <a:off x="2942966" y="1159096"/>
                <a:ext cx="1341900" cy="4833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r>
                  <a:rPr lang="en" sz="1100" b="1">
                    <a:solidFill>
                      <a:schemeClr val="lt1"/>
                    </a:solidFill>
                    <a:latin typeface="Calibri"/>
                    <a:ea typeface="Calibri"/>
                    <a:cs typeface="Calibri"/>
                    <a:sym typeface="Calibri"/>
                  </a:rPr>
                  <a:t>Dispersed</a:t>
                </a:r>
                <a:endParaRPr sz="900">
                  <a:solidFill>
                    <a:schemeClr val="lt1"/>
                  </a:solidFill>
                </a:endParaRPr>
              </a:p>
              <a:p>
                <a:pPr marL="0" marR="0" lvl="0" indent="0" algn="r" rtl="0">
                  <a:spcBef>
                    <a:spcPts val="0"/>
                  </a:spcBef>
                  <a:spcAft>
                    <a:spcPts val="0"/>
                  </a:spcAft>
                  <a:buNone/>
                </a:pPr>
                <a:r>
                  <a:rPr lang="en" sz="1100" b="1">
                    <a:solidFill>
                      <a:schemeClr val="lt1"/>
                    </a:solidFill>
                    <a:latin typeface="Calibri"/>
                    <a:ea typeface="Calibri"/>
                    <a:cs typeface="Calibri"/>
                    <a:sym typeface="Calibri"/>
                  </a:rPr>
                  <a:t>Fibroblastoid</a:t>
                </a:r>
                <a:endParaRPr sz="1100" b="1">
                  <a:solidFill>
                    <a:schemeClr val="lt1"/>
                  </a:solidFill>
                  <a:latin typeface="Calibri"/>
                  <a:ea typeface="Calibri"/>
                  <a:cs typeface="Calibri"/>
                  <a:sym typeface="Calibri"/>
                </a:endParaRPr>
              </a:p>
            </p:txBody>
          </p:sp>
        </p:grpSp>
      </p:grpSp>
      <p:pic>
        <p:nvPicPr>
          <p:cNvPr id="169" name="Google Shape;169;p23" title="CFUF videos.mp4">
            <a:hlinkClick r:id="rId7"/>
          </p:cNvPr>
          <p:cNvPicPr preferRelativeResize="0"/>
          <p:nvPr/>
        </p:nvPicPr>
        <p:blipFill>
          <a:blip r:embed="rId8">
            <a:alphaModFix/>
          </a:blip>
          <a:stretch>
            <a:fillRect/>
          </a:stretch>
        </p:blipFill>
        <p:spPr>
          <a:xfrm>
            <a:off x="4163775" y="687150"/>
            <a:ext cx="4517575" cy="3388175"/>
          </a:xfrm>
          <a:prstGeom prst="rect">
            <a:avLst/>
          </a:prstGeom>
          <a:noFill/>
          <a:ln>
            <a:noFill/>
          </a:ln>
        </p:spPr>
      </p:pic>
      <p:sp>
        <p:nvSpPr>
          <p:cNvPr id="170" name="Google Shape;170;p23"/>
          <p:cNvSpPr txBox="1"/>
          <p:nvPr/>
        </p:nvSpPr>
        <p:spPr>
          <a:xfrm>
            <a:off x="193050" y="4217425"/>
            <a:ext cx="8650200" cy="400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500" b="1">
                <a:solidFill>
                  <a:schemeClr val="dk1"/>
                </a:solidFill>
              </a:rPr>
              <a:t>Research Question: Can cell shape and movement predict the capacity of an MSC to differentiate? </a:t>
            </a:r>
            <a:r>
              <a:rPr lang="en" sz="1500">
                <a:solidFill>
                  <a:schemeClr val="dk1"/>
                </a:solidFill>
              </a:rPr>
              <a:t>(essentially, do subpopulations that have different abilities to differentiate also differ in their cell shapes and the way they move?) </a:t>
            </a:r>
            <a:endParaRPr sz="1500">
              <a:solidFill>
                <a:schemeClr val="dk1"/>
              </a:solidFill>
            </a:endParaRPr>
          </a:p>
          <a:p>
            <a:pPr marL="0" lvl="0" indent="0" algn="l" rtl="0">
              <a:spcBef>
                <a:spcPts val="0"/>
              </a:spcBef>
              <a:spcAft>
                <a:spcPts val="0"/>
              </a:spcAft>
              <a:buNone/>
            </a:pPr>
            <a:endParaRPr sz="1500">
              <a:solidFill>
                <a:schemeClr val="dk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9"/>
                                        </p:tgtEl>
                                        <p:attrNameLst>
                                          <p:attrName>style.visibility</p:attrName>
                                        </p:attrNameLst>
                                      </p:cBhvr>
                                      <p:to>
                                        <p:strVal val="visible"/>
                                      </p:to>
                                    </p:set>
                                    <p:animEffect transition="in" filter="fade">
                                      <p:cBhvr>
                                        <p:cTn id="7" dur="1000"/>
                                        <p:tgtEl>
                                          <p:spTgt spid="1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24"/>
          <p:cNvSpPr txBox="1">
            <a:spLocks noGrp="1"/>
          </p:cNvSpPr>
          <p:nvPr>
            <p:ph type="title"/>
          </p:nvPr>
        </p:nvSpPr>
        <p:spPr>
          <a:xfrm>
            <a:off x="311700" y="2164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sz="2500"/>
              <a:t>Exercise 2: What experimental approaches are we using to address the research question?</a:t>
            </a:r>
            <a:endParaRPr sz="2500" b="0"/>
          </a:p>
        </p:txBody>
      </p:sp>
      <p:sp>
        <p:nvSpPr>
          <p:cNvPr id="176" name="Google Shape;176;p24"/>
          <p:cNvSpPr txBox="1">
            <a:spLocks noGrp="1"/>
          </p:cNvSpPr>
          <p:nvPr>
            <p:ph type="body" idx="1"/>
          </p:nvPr>
        </p:nvSpPr>
        <p:spPr>
          <a:xfrm>
            <a:off x="198900" y="1148850"/>
            <a:ext cx="8633400" cy="1492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a:t>Experimental Aim</a:t>
            </a:r>
            <a:endParaRPr b="1"/>
          </a:p>
          <a:p>
            <a:pPr marL="0" lvl="0" indent="0" algn="l" rtl="0">
              <a:spcBef>
                <a:spcPts val="0"/>
              </a:spcBef>
              <a:spcAft>
                <a:spcPts val="1200"/>
              </a:spcAft>
              <a:buNone/>
            </a:pPr>
            <a:r>
              <a:rPr lang="en" sz="1600"/>
              <a:t>To assess whether subpopulations of hMSCs that may differ in differentiation potential, also have differences in morphology (cell shape and size) and migration (e.g. speed and distance travelled).</a:t>
            </a:r>
            <a:endParaRPr sz="1600"/>
          </a:p>
        </p:txBody>
      </p:sp>
      <p:sp>
        <p:nvSpPr>
          <p:cNvPr id="177" name="Google Shape;177;p24"/>
          <p:cNvSpPr txBox="1">
            <a:spLocks noGrp="1"/>
          </p:cNvSpPr>
          <p:nvPr>
            <p:ph type="body" idx="1"/>
          </p:nvPr>
        </p:nvSpPr>
        <p:spPr>
          <a:xfrm>
            <a:off x="198900" y="2630550"/>
            <a:ext cx="8757300" cy="1492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dirty="0"/>
              <a:t>How did you/ are you investigating the aim?</a:t>
            </a:r>
            <a:endParaRPr b="1" dirty="0"/>
          </a:p>
          <a:p>
            <a:pPr marL="0" lvl="0" indent="0" algn="l" rtl="0">
              <a:spcBef>
                <a:spcPts val="0"/>
              </a:spcBef>
              <a:spcAft>
                <a:spcPts val="0"/>
              </a:spcAft>
              <a:buNone/>
            </a:pPr>
            <a:endParaRPr dirty="0"/>
          </a:p>
          <a:p>
            <a:pPr marL="0" lvl="0" indent="0" algn="l" rtl="0">
              <a:spcBef>
                <a:spcPts val="0"/>
              </a:spcBef>
              <a:spcAft>
                <a:spcPts val="0"/>
              </a:spcAft>
              <a:buNone/>
            </a:pPr>
            <a:r>
              <a:rPr lang="en" sz="1600" dirty="0"/>
              <a:t>Discuss this in groups to help you consider how you’ll write the Approach section of your reports.</a:t>
            </a:r>
            <a:endParaRPr sz="1600" dirty="0"/>
          </a:p>
          <a:p>
            <a:pPr marL="0" lvl="0" indent="0" algn="l" rtl="0">
              <a:spcBef>
                <a:spcPts val="0"/>
              </a:spcBef>
              <a:spcAft>
                <a:spcPts val="0"/>
              </a:spcAft>
              <a:buNone/>
            </a:pPr>
            <a:endParaRPr sz="1600" dirty="0"/>
          </a:p>
          <a:p>
            <a:pPr marL="0" lvl="0" indent="0" algn="l" rtl="0">
              <a:spcBef>
                <a:spcPts val="0"/>
              </a:spcBef>
              <a:spcAft>
                <a:spcPts val="0"/>
              </a:spcAft>
              <a:buNone/>
            </a:pPr>
            <a:r>
              <a:rPr lang="en" sz="1600" u="sng" dirty="0">
                <a:solidFill>
                  <a:schemeClr val="hlink"/>
                </a:solidFill>
                <a:hlinkClick r:id="rId3"/>
              </a:rPr>
              <a:t>Report Guidelines</a:t>
            </a:r>
            <a:endParaRPr sz="1600" dirty="0"/>
          </a:p>
          <a:p>
            <a:pPr marL="0" lvl="0" indent="0" algn="l" rtl="0">
              <a:spcBef>
                <a:spcPts val="0"/>
              </a:spcBef>
              <a:spcAft>
                <a:spcPts val="0"/>
              </a:spcAft>
              <a:buNone/>
            </a:pPr>
            <a:r>
              <a:rPr lang="en" sz="1600" u="sng" dirty="0">
                <a:solidFill>
                  <a:schemeClr val="hlink"/>
                </a:solidFill>
                <a:hlinkClick r:id="rId4"/>
              </a:rPr>
              <a:t>Example Approach Section</a:t>
            </a:r>
            <a:r>
              <a:rPr lang="en" sz="1600" dirty="0"/>
              <a:t>, </a:t>
            </a:r>
            <a:r>
              <a:rPr lang="en" sz="1600" u="sng" dirty="0">
                <a:solidFill>
                  <a:schemeClr val="hlink"/>
                </a:solidFill>
                <a:hlinkClick r:id="rId5"/>
              </a:rPr>
              <a:t>Direct link to example paper</a:t>
            </a:r>
            <a:endParaRPr sz="1600" dirty="0"/>
          </a:p>
          <a:p>
            <a:pPr marL="0" lvl="0" indent="0" algn="l" rtl="0">
              <a:spcBef>
                <a:spcPts val="0"/>
              </a:spcBef>
              <a:spcAft>
                <a:spcPts val="0"/>
              </a:spcAft>
              <a:buNone/>
            </a:pPr>
            <a:endParaRPr b="1" dirty="0"/>
          </a:p>
          <a:p>
            <a:pPr marL="0" lvl="0" indent="0" algn="l" rtl="0">
              <a:spcBef>
                <a:spcPts val="0"/>
              </a:spcBef>
              <a:spcAft>
                <a:spcPts val="0"/>
              </a:spcAft>
              <a:buNone/>
            </a:pPr>
            <a:endParaRPr b="1" dirty="0"/>
          </a:p>
          <a:p>
            <a:pPr marL="0" lvl="0" indent="0" algn="l" rtl="0">
              <a:spcBef>
                <a:spcPts val="0"/>
              </a:spcBef>
              <a:spcAft>
                <a:spcPts val="0"/>
              </a:spcAft>
              <a:buNone/>
            </a:pPr>
            <a:endParaRPr b="1" dirty="0"/>
          </a:p>
          <a:p>
            <a:pPr marL="0" lvl="0" indent="0" algn="l" rtl="0">
              <a:spcBef>
                <a:spcPts val="0"/>
              </a:spcBef>
              <a:spcAft>
                <a:spcPts val="1200"/>
              </a:spcAft>
              <a:buNone/>
            </a:pPr>
            <a:endParaRPr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2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Exercise 3: How do I write the results section</a:t>
            </a:r>
            <a:endParaRPr/>
          </a:p>
        </p:txBody>
      </p:sp>
      <p:sp>
        <p:nvSpPr>
          <p:cNvPr id="214" name="Google Shape;214;p28"/>
          <p:cNvSpPr txBox="1">
            <a:spLocks noGrp="1"/>
          </p:cNvSpPr>
          <p:nvPr>
            <p:ph type="body" idx="1"/>
          </p:nvPr>
        </p:nvSpPr>
        <p:spPr>
          <a:xfrm>
            <a:off x="311700" y="1237475"/>
            <a:ext cx="8444700" cy="2873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Discuss in groups the following:</a:t>
            </a:r>
            <a:endParaRPr/>
          </a:p>
          <a:p>
            <a:pPr marL="457200" lvl="0" indent="-342900" algn="l" rtl="0">
              <a:spcBef>
                <a:spcPts val="1200"/>
              </a:spcBef>
              <a:spcAft>
                <a:spcPts val="0"/>
              </a:spcAft>
              <a:buSzPts val="1800"/>
              <a:buAutoNum type="arabicPeriod"/>
            </a:pPr>
            <a:r>
              <a:rPr lang="en"/>
              <a:t>What is the purpose of a results section in a scientific report and what should it contain?</a:t>
            </a:r>
            <a:endParaRPr/>
          </a:p>
          <a:p>
            <a:pPr marL="457200" lvl="0" indent="-342900" algn="l" rtl="0">
              <a:spcBef>
                <a:spcPts val="1000"/>
              </a:spcBef>
              <a:spcAft>
                <a:spcPts val="0"/>
              </a:spcAft>
              <a:buSzPts val="1800"/>
              <a:buAutoNum type="arabicPeriod"/>
            </a:pPr>
            <a:r>
              <a:rPr lang="en"/>
              <a:t>What specific data will contribute to your report?</a:t>
            </a:r>
            <a:endParaRPr/>
          </a:p>
          <a:p>
            <a:pPr marL="457200" lvl="0" indent="-342900" algn="l" rtl="0">
              <a:spcBef>
                <a:spcPts val="1000"/>
              </a:spcBef>
              <a:spcAft>
                <a:spcPts val="1000"/>
              </a:spcAft>
              <a:buSzPts val="1800"/>
              <a:buAutoNum type="arabicPeriod"/>
            </a:pPr>
            <a:r>
              <a:rPr lang="en"/>
              <a:t>What type of plots and images do you think this section should contain?</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sp>
        <p:nvSpPr>
          <p:cNvPr id="251" name="Google Shape;251;p33"/>
          <p:cNvSpPr txBox="1">
            <a:spLocks noGrp="1"/>
          </p:cNvSpPr>
          <p:nvPr>
            <p:ph type="title"/>
          </p:nvPr>
        </p:nvSpPr>
        <p:spPr>
          <a:xfrm>
            <a:off x="311700" y="2164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Exercise 4: Understanding figures and discussion elements</a:t>
            </a:r>
            <a:endParaRPr/>
          </a:p>
        </p:txBody>
      </p:sp>
      <p:sp>
        <p:nvSpPr>
          <p:cNvPr id="252" name="Google Shape;252;p33"/>
          <p:cNvSpPr txBox="1">
            <a:spLocks noGrp="1"/>
          </p:cNvSpPr>
          <p:nvPr>
            <p:ph type="body" idx="1"/>
          </p:nvPr>
        </p:nvSpPr>
        <p:spPr>
          <a:xfrm>
            <a:off x="311700" y="1349750"/>
            <a:ext cx="3709500" cy="3416400"/>
          </a:xfrm>
          <a:prstGeom prst="rect">
            <a:avLst/>
          </a:prstGeom>
        </p:spPr>
        <p:txBody>
          <a:bodyPr spcFirstLastPara="1" wrap="square" lIns="91425" tIns="91425" rIns="91425" bIns="91425" anchor="t" anchorCtr="0">
            <a:normAutofit/>
          </a:bodyPr>
          <a:lstStyle/>
          <a:p>
            <a:pPr marL="0" lvl="0" indent="0" algn="l" rtl="0">
              <a:lnSpc>
                <a:spcPct val="95000"/>
              </a:lnSpc>
              <a:spcBef>
                <a:spcPts val="0"/>
              </a:spcBef>
              <a:spcAft>
                <a:spcPts val="0"/>
              </a:spcAft>
              <a:buNone/>
            </a:pPr>
            <a:r>
              <a:rPr lang="en" sz="1600" dirty="0"/>
              <a:t>Discuss in groups the following:</a:t>
            </a:r>
            <a:endParaRPr sz="1600" dirty="0"/>
          </a:p>
          <a:p>
            <a:pPr marL="457200" lvl="0" indent="-330200" algn="l" rtl="0">
              <a:lnSpc>
                <a:spcPct val="95000"/>
              </a:lnSpc>
              <a:spcBef>
                <a:spcPts val="1200"/>
              </a:spcBef>
              <a:spcAft>
                <a:spcPts val="0"/>
              </a:spcAft>
              <a:buSzPts val="1600"/>
              <a:buAutoNum type="arabicPeriod"/>
            </a:pPr>
            <a:r>
              <a:rPr lang="en" sz="1600" dirty="0"/>
              <a:t>What is the purpose of the discussion section in a scientific report?</a:t>
            </a:r>
            <a:endParaRPr sz="1600" dirty="0"/>
          </a:p>
          <a:p>
            <a:pPr marL="457200" lvl="0" indent="-330200" algn="l" rtl="0">
              <a:lnSpc>
                <a:spcPct val="95000"/>
              </a:lnSpc>
              <a:spcBef>
                <a:spcPts val="0"/>
              </a:spcBef>
              <a:spcAft>
                <a:spcPts val="0"/>
              </a:spcAft>
              <a:buSzPts val="1600"/>
              <a:buAutoNum type="arabicPeriod"/>
            </a:pPr>
            <a:r>
              <a:rPr lang="en" sz="1600" dirty="0"/>
              <a:t>Look at the figure. What is good and bad about it? What conclusions can you draw from the data? </a:t>
            </a:r>
            <a:endParaRPr sz="1600" dirty="0"/>
          </a:p>
          <a:p>
            <a:pPr marL="457200" lvl="0" indent="0" algn="l" rtl="0">
              <a:lnSpc>
                <a:spcPct val="95000"/>
              </a:lnSpc>
              <a:spcBef>
                <a:spcPts val="1200"/>
              </a:spcBef>
              <a:spcAft>
                <a:spcPts val="0"/>
              </a:spcAft>
              <a:buNone/>
            </a:pPr>
            <a:r>
              <a:rPr lang="en" sz="1600" u="sng" dirty="0">
                <a:solidFill>
                  <a:schemeClr val="hlink"/>
                </a:solidFill>
                <a:hlinkClick r:id="rId3"/>
              </a:rPr>
              <a:t>Digital copy of Figure</a:t>
            </a:r>
            <a:endParaRPr sz="1600" dirty="0"/>
          </a:p>
          <a:p>
            <a:pPr marL="127000" lvl="0" indent="0" algn="l" rtl="0">
              <a:lnSpc>
                <a:spcPct val="95000"/>
              </a:lnSpc>
              <a:spcBef>
                <a:spcPts val="1200"/>
              </a:spcBef>
              <a:spcAft>
                <a:spcPts val="0"/>
              </a:spcAft>
              <a:buSzPts val="1600"/>
              <a:buNone/>
            </a:pPr>
            <a:r>
              <a:rPr lang="en" sz="1600" dirty="0"/>
              <a:t>3. Given the conclusions what further experiment would you suggest?</a:t>
            </a:r>
            <a:endParaRPr sz="1600" dirty="0"/>
          </a:p>
        </p:txBody>
      </p:sp>
      <p:pic>
        <p:nvPicPr>
          <p:cNvPr id="253" name="Google Shape;253;p33"/>
          <p:cNvPicPr preferRelativeResize="0"/>
          <p:nvPr/>
        </p:nvPicPr>
        <p:blipFill>
          <a:blip r:embed="rId4">
            <a:alphaModFix/>
          </a:blip>
          <a:stretch>
            <a:fillRect/>
          </a:stretch>
        </p:blipFill>
        <p:spPr>
          <a:xfrm>
            <a:off x="4215875" y="856950"/>
            <a:ext cx="2354137" cy="4049574"/>
          </a:xfrm>
          <a:prstGeom prst="rect">
            <a:avLst/>
          </a:prstGeom>
          <a:noFill/>
          <a:ln>
            <a:noFill/>
          </a:ln>
        </p:spPr>
      </p:pic>
      <p:sp>
        <p:nvSpPr>
          <p:cNvPr id="254" name="Google Shape;254;p33"/>
          <p:cNvSpPr txBox="1"/>
          <p:nvPr/>
        </p:nvSpPr>
        <p:spPr>
          <a:xfrm>
            <a:off x="6764675" y="1447500"/>
            <a:ext cx="2136900" cy="2586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b="1">
                <a:solidFill>
                  <a:schemeClr val="dk2"/>
                </a:solidFill>
              </a:rPr>
              <a:t>Figure 2.</a:t>
            </a:r>
            <a:r>
              <a:rPr lang="en" sz="1200">
                <a:solidFill>
                  <a:schemeClr val="dk2"/>
                </a:solidFill>
              </a:rPr>
              <a:t> Multilineage differentiation capacity of adipose derived mesenchymal stem cells. Alkaline phosphatase activity (P), noninduced controls (O), deposition of a mineralized matrix: von Kossa stain (R), noninduced control (Q), Oil Red O stain (T), noninduced control (S). Safranin O staining in cryosections (U). </a:t>
            </a:r>
            <a:endParaRPr sz="1200">
              <a:solidFill>
                <a:schemeClr val="dk2"/>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p3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How can I ask questions? </a:t>
            </a:r>
            <a:endParaRPr/>
          </a:p>
        </p:txBody>
      </p:sp>
      <p:sp>
        <p:nvSpPr>
          <p:cNvPr id="284" name="Google Shape;284;p37"/>
          <p:cNvSpPr txBox="1">
            <a:spLocks noGrp="1"/>
          </p:cNvSpPr>
          <p:nvPr>
            <p:ph type="body" idx="1"/>
          </p:nvPr>
        </p:nvSpPr>
        <p:spPr>
          <a:xfrm>
            <a:off x="311700" y="1152475"/>
            <a:ext cx="8520600" cy="2082000"/>
          </a:xfrm>
          <a:prstGeom prst="rect">
            <a:avLst/>
          </a:prstGeom>
        </p:spPr>
        <p:txBody>
          <a:bodyPr spcFirstLastPara="1" wrap="square" lIns="91425" tIns="91425" rIns="91425" bIns="91425" anchor="t" anchorCtr="0">
            <a:normAutofit fontScale="85000" lnSpcReduction="20000"/>
          </a:bodyPr>
          <a:lstStyle/>
          <a:p>
            <a:pPr marL="457200" lvl="0" indent="-325755" algn="l" rtl="0">
              <a:spcBef>
                <a:spcPts val="0"/>
              </a:spcBef>
              <a:spcAft>
                <a:spcPts val="0"/>
              </a:spcAft>
              <a:buSzPct val="100000"/>
              <a:buChar char="●"/>
            </a:pPr>
            <a:r>
              <a:rPr lang="en"/>
              <a:t>In teaching sessions and tutorials, we are all happy to help :)</a:t>
            </a:r>
            <a:endParaRPr/>
          </a:p>
          <a:p>
            <a:pPr marL="457200" lvl="0" indent="-325755" algn="l" rtl="0">
              <a:spcBef>
                <a:spcPts val="1000"/>
              </a:spcBef>
              <a:spcAft>
                <a:spcPts val="0"/>
              </a:spcAft>
              <a:buSzPct val="100000"/>
              <a:buChar char="●"/>
            </a:pPr>
            <a:r>
              <a:rPr lang="en"/>
              <a:t>Through the online discussion board (for help with RStudio code it is very helpful if you copy and paste the part of the code you have a question about with your question)</a:t>
            </a:r>
            <a:endParaRPr/>
          </a:p>
          <a:p>
            <a:pPr marL="457200" lvl="0" indent="-325755" algn="l" rtl="0">
              <a:spcBef>
                <a:spcPts val="1000"/>
              </a:spcBef>
              <a:spcAft>
                <a:spcPts val="0"/>
              </a:spcAft>
              <a:buSzPct val="100000"/>
              <a:buChar char="●"/>
            </a:pPr>
            <a:r>
              <a:rPr lang="en"/>
              <a:t>Module Q&amp;A sessions</a:t>
            </a:r>
            <a:endParaRPr/>
          </a:p>
          <a:p>
            <a:pPr marL="457200" lvl="0" indent="-325755" algn="l" rtl="0">
              <a:spcBef>
                <a:spcPts val="1000"/>
              </a:spcBef>
              <a:spcAft>
                <a:spcPts val="1000"/>
              </a:spcAft>
              <a:buSzPct val="100000"/>
              <a:buChar char="●"/>
            </a:pPr>
            <a:r>
              <a:rPr lang="en"/>
              <a:t>In fairness to all students we won’t provide support via email, please use the discussion board instead</a:t>
            </a:r>
            <a:endParaRPr/>
          </a:p>
        </p:txBody>
      </p:sp>
      <p:pic>
        <p:nvPicPr>
          <p:cNvPr id="285" name="Google Shape;285;p37" descr="Questions can be asked on the module discussion board on the VLE"/>
          <p:cNvPicPr preferRelativeResize="0"/>
          <p:nvPr/>
        </p:nvPicPr>
        <p:blipFill>
          <a:blip r:embed="rId3">
            <a:alphaModFix/>
          </a:blip>
          <a:stretch>
            <a:fillRect/>
          </a:stretch>
        </p:blipFill>
        <p:spPr>
          <a:xfrm>
            <a:off x="152400" y="3177699"/>
            <a:ext cx="8839200" cy="1400552"/>
          </a:xfrm>
          <a:prstGeom prst="rect">
            <a:avLst/>
          </a:prstGeom>
          <a:noFill/>
          <a:ln>
            <a:noFill/>
          </a:ln>
        </p:spPr>
      </p:pic>
      <p:sp>
        <p:nvSpPr>
          <p:cNvPr id="286" name="Google Shape;286;p37"/>
          <p:cNvSpPr txBox="1"/>
          <p:nvPr/>
        </p:nvSpPr>
        <p:spPr>
          <a:xfrm>
            <a:off x="255325" y="4567875"/>
            <a:ext cx="74298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u="sng">
                <a:solidFill>
                  <a:schemeClr val="hlink"/>
                </a:solidFill>
                <a:hlinkClick r:id="rId4"/>
              </a:rPr>
              <a:t>Scientific Writing - Skills Hub</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1" name="Google Shape;291;p3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Learning Outcomes for today’s session </a:t>
            </a:r>
            <a:endParaRPr/>
          </a:p>
        </p:txBody>
      </p:sp>
      <p:sp>
        <p:nvSpPr>
          <p:cNvPr id="292" name="Google Shape;292;p3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lnSpc>
                <a:spcPct val="150000"/>
              </a:lnSpc>
              <a:spcBef>
                <a:spcPts val="1000"/>
              </a:spcBef>
              <a:spcAft>
                <a:spcPts val="0"/>
              </a:spcAft>
              <a:buSzPts val="1800"/>
              <a:buChar char="●"/>
            </a:pPr>
            <a:r>
              <a:rPr lang="en"/>
              <a:t>Understand the scientific report assessment</a:t>
            </a:r>
            <a:endParaRPr/>
          </a:p>
          <a:p>
            <a:pPr marL="457200" lvl="0" indent="-342900" algn="l" rtl="0">
              <a:lnSpc>
                <a:spcPct val="150000"/>
              </a:lnSpc>
              <a:spcBef>
                <a:spcPts val="1000"/>
              </a:spcBef>
              <a:spcAft>
                <a:spcPts val="0"/>
              </a:spcAft>
              <a:buSzPts val="1800"/>
              <a:buChar char="●"/>
            </a:pPr>
            <a:r>
              <a:rPr lang="en"/>
              <a:t>Understand the background and context to the Cell Biology research project</a:t>
            </a:r>
            <a:endParaRPr/>
          </a:p>
          <a:p>
            <a:pPr marL="457200" lvl="0" indent="-342900" algn="l" rtl="0">
              <a:lnSpc>
                <a:spcPct val="150000"/>
              </a:lnSpc>
              <a:spcBef>
                <a:spcPts val="1000"/>
              </a:spcBef>
              <a:spcAft>
                <a:spcPts val="1000"/>
              </a:spcAft>
              <a:buSzPts val="1800"/>
              <a:buChar char="●"/>
            </a:pPr>
            <a:r>
              <a:rPr lang="en"/>
              <a:t>Understand how the outputs from practical and data workshops form the basis of your scientific report</a:t>
            </a:r>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TotalTime>
  <Words>1275</Words>
  <Application>Microsoft Office PowerPoint</Application>
  <PresentationFormat>On-screen Show (16:9)</PresentationFormat>
  <Paragraphs>100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Simple Light</vt:lpstr>
      <vt:lpstr>Cell Biology: Mesenchymal Stem Cell (MSC) Heterogeneity   Report Writing Workshop</vt:lpstr>
      <vt:lpstr>Learning Outcomes for today’s session </vt:lpstr>
      <vt:lpstr>How will I be assessed in this module?</vt:lpstr>
      <vt:lpstr>How will I be assessed in this module?</vt:lpstr>
      <vt:lpstr>Exercise 1: How is an introduction structured? </vt:lpstr>
      <vt:lpstr>Exercise 1: How is an introduction structured? </vt:lpstr>
      <vt:lpstr>Our Research Area: MSCs vary in their potential to differentiate </vt:lpstr>
      <vt:lpstr>MSCs vary in their potential to differentiate </vt:lpstr>
      <vt:lpstr>MSC subpopulations cannot be identified using cell surface markers</vt:lpstr>
      <vt:lpstr>MSC clones vary in their shape and movement</vt:lpstr>
      <vt:lpstr>Exercise 2: What experimental approaches are we using to address the research question?</vt:lpstr>
      <vt:lpstr>Exercise 3: How do I write the results section</vt:lpstr>
      <vt:lpstr>Exercise 4: Understanding figures and discussion elements</vt:lpstr>
      <vt:lpstr>How can I ask questions? </vt:lpstr>
      <vt:lpstr>Learning Outcomes for today’s session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Amanda Barnes</cp:lastModifiedBy>
  <cp:revision>2</cp:revision>
  <dcterms:modified xsi:type="dcterms:W3CDTF">2026-03-05T17:14:43Z</dcterms:modified>
</cp:coreProperties>
</file>